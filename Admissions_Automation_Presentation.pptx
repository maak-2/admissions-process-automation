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and thank you for the opportunity.
For this exercise, I designed an end-to-end admissions process automation solution using Microsoft Power Platform and Microsoft 365.
The goal was to reduce manual administration, improve operational visibility, standardise communication, and introduce SLA governance into the admissions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process relies heavily on manual handling.
Applications arrive via email, documents arrive separately, completeness checks are manual, academic review routing is manual, and tracking is inconsistent.
This creates delays, operational inefficiency, and limited visibility.
My objective was to design a future-state automated process to streamline those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Microsoft-native tooling throughout the solution.
Microsoft Forms handles applicant intake. I chose Forms because it provides a simple, standardised way to collect applicant information and integrates directly with Microsoft 365.
Power Automate manages workflow orchestration.
SharePoint acts as the tracking and document management layer. I chose SharePoint because it provides a central repository for tracking, document storage and auditability.
Outlook handles notifications and approvals.
I also created a separate scheduled SLA monitoring flow for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 begins when a prospective student submits an application through Microsoft Forms.
Power Automate retrieves the submitted details and automatically creates a SharePoint application record.
This removes manual data entry and provides a single source of truth for admissions staff.
A dedicated SharePoint folder is also created for document storage and organisation.
The workflow then validates whether required documents have been submitted.
If documents are incomplete, the applicant automatically receives a missing documents notification and the case is marked incomplete.
If documents are complete, the application is routed for academic review.
The reviewer receives an approval request email with Approve or Reject options.
Based on the reviewer’s decision, the applicant receives either an offer communication or rejection notification.
SharePoint is then updated automatically to maintain operational visibility and status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deliberately separated applicant communications from internal approvals.
Approval requests are sent to a reviewer mailbox rather than the applicant.
This ensures decisions remain controlled through an internal approval process.
This creates a more realistic governance model and standardises academic decision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also standardises applicant communications.
Applicants automatically receive the appropriate communication based on workflow outcomes, including missing document requests, approval outcomes, and rejection notifications.
This reduces manual drafting and improves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SharePoint acts as a lightweight operational tracking and case management layer.
Admissions staff can immediately view application status, document completeness, reviewer decisions, and workflow progress in one central location.
This improves visibility and reduces dependency on inbox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created a separate SLA monitoring flow.
The main workflow handles application processing, while the SLA flow handles operational monitoring.
I separated these responsibilities to make the solution easier to manage and maintain.
The SLA flow runs on a schedule, checks for overdue applications still awaiting action, and sends escalation alerts.
This introduces governance and reduces the risk of applications being missed or delayed.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business benefits are reduced manual administration, faster turnaround times, improved applicant experience, stronger operational visibility, and more consistent communication.
The process is also scalable and fully integrated within the Microsoft 365 ecosystem.
It also provides a foundation for future reporting and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developed further, I would extend the solution with Power BI operational reporting, Teams-based approvals, stronger role-based access controls, automated document verification, and potentially Dataverse for enterprise-scale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pic>
        <p:nvPicPr>
          <p:cNvPr id="2" name="Image 0" descr="/mnt/data/extracted_imgs/slide1_Picture_4.jpg">    </p:cNvPr>
          <p:cNvPicPr>
            <a:picLocks noChangeAspect="1"/>
          </p:cNvPicPr>
          <p:nvPr/>
        </p:nvPicPr>
        <p:blipFill>
          <a:blip r:embed="rId1"/>
          <a:srcRect l="1" r="1"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5000"/>
            </a:srgbClr>
          </a:solidFill>
          <a:ln w="12700">
            <a:solidFill>
              <a:srgbClr val="000000">
                <a:alpha val="0"/>
              </a:srgbClr>
            </a:solidFill>
            <a:prstDash val="solid"/>
          </a:ln>
        </p:spPr>
      </p:sp>
      <p:sp>
        <p:nvSpPr>
          <p:cNvPr id="4" name="Text 1"/>
          <p:cNvSpPr/>
          <p:nvPr/>
        </p:nvSpPr>
        <p:spPr>
          <a:xfrm>
            <a:off x="685800" y="1325880"/>
            <a:ext cx="6766560" cy="1280160"/>
          </a:xfrm>
          <a:prstGeom prst="rect">
            <a:avLst/>
          </a:prstGeom>
          <a:noFill/>
          <a:ln/>
        </p:spPr>
        <p:txBody>
          <a:bodyPr wrap="square" lIns="0" tIns="0" rIns="0" bIns="0" rtlCol="0" anchor="ctr"/>
          <a:lstStyle/>
          <a:p>
            <a:pPr indent="0" marL="0">
              <a:buNone/>
            </a:pPr>
            <a:r>
              <a:rPr lang="en-US" sz="3800" b="1" dirty="0">
                <a:solidFill>
                  <a:srgbClr val="FFFFFF"/>
                </a:solidFill>
                <a:latin typeface="Aptos Display" pitchFamily="34" charset="0"/>
                <a:ea typeface="Aptos Display" pitchFamily="34" charset="-122"/>
                <a:cs typeface="Aptos Display" pitchFamily="34" charset="-120"/>
              </a:rPr>
              <a:t>Admissions Process</a:t>
            </a:r>
            <a:endParaRPr lang="en-US" sz="3800" dirty="0"/>
          </a:p>
          <a:p>
            <a:pPr indent="0" marL="0">
              <a:buNone/>
            </a:pPr>
            <a:r>
              <a:rPr lang="en-US" sz="3800" b="1" dirty="0">
                <a:solidFill>
                  <a:srgbClr val="FFFFFF"/>
                </a:solidFill>
                <a:latin typeface="Aptos Display" pitchFamily="34" charset="0"/>
                <a:ea typeface="Aptos Display" pitchFamily="34" charset="-122"/>
                <a:cs typeface="Aptos Display" pitchFamily="34" charset="-120"/>
              </a:rPr>
              <a:t>Automation</a:t>
            </a:r>
            <a:endParaRPr lang="en-US" sz="3800" dirty="0"/>
          </a:p>
        </p:txBody>
      </p:sp>
      <p:sp>
        <p:nvSpPr>
          <p:cNvPr id="5" name="Text 2"/>
          <p:cNvSpPr/>
          <p:nvPr/>
        </p:nvSpPr>
        <p:spPr>
          <a:xfrm>
            <a:off x="685800" y="2743200"/>
            <a:ext cx="7955280" cy="438912"/>
          </a:xfrm>
          <a:prstGeom prst="rect">
            <a:avLst/>
          </a:prstGeom>
          <a:noFill/>
          <a:ln/>
        </p:spPr>
        <p:txBody>
          <a:bodyPr wrap="square" lIns="0" tIns="0" rIns="0" bIns="0" rtlCol="0" anchor="ctr"/>
          <a:lstStyle/>
          <a:p>
            <a:pPr indent="0" marL="0">
              <a:buNone/>
            </a:pPr>
            <a:r>
              <a:rPr lang="en-US" sz="2200" dirty="0">
                <a:solidFill>
                  <a:srgbClr val="FFFFFF"/>
                </a:solidFill>
              </a:rPr>
              <a:t>using Microsoft Power Platform</a:t>
            </a:r>
            <a:endParaRPr lang="en-US" sz="2200" dirty="0"/>
          </a:p>
        </p:txBody>
      </p:sp>
      <p:sp>
        <p:nvSpPr>
          <p:cNvPr id="6" name="Text 3"/>
          <p:cNvSpPr/>
          <p:nvPr/>
        </p:nvSpPr>
        <p:spPr>
          <a:xfrm>
            <a:off x="685800" y="3703320"/>
            <a:ext cx="6217920" cy="292608"/>
          </a:xfrm>
          <a:prstGeom prst="rect">
            <a:avLst/>
          </a:prstGeom>
          <a:noFill/>
          <a:ln/>
        </p:spPr>
        <p:txBody>
          <a:bodyPr wrap="square" lIns="0" tIns="0" rIns="0" bIns="0" rtlCol="0" anchor="ctr"/>
          <a:lstStyle/>
          <a:p>
            <a:pPr indent="0" marL="0">
              <a:buNone/>
            </a:pPr>
            <a:r>
              <a:rPr lang="en-US" sz="1300" dirty="0">
                <a:solidFill>
                  <a:srgbClr val="DDEEFF"/>
                </a:solidFill>
              </a:rPr>
              <a:t>Plymouth Marjon University Interview Presentation</a:t>
            </a:r>
            <a:endParaRPr lang="en-US" sz="1300" dirty="0"/>
          </a:p>
        </p:txBody>
      </p:sp>
      <p:sp>
        <p:nvSpPr>
          <p:cNvPr id="7" name="Text 4"/>
          <p:cNvSpPr/>
          <p:nvPr/>
        </p:nvSpPr>
        <p:spPr>
          <a:xfrm>
            <a:off x="685800" y="6080760"/>
            <a:ext cx="3108960" cy="201168"/>
          </a:xfrm>
          <a:prstGeom prst="rect">
            <a:avLst/>
          </a:prstGeom>
          <a:noFill/>
          <a:ln/>
        </p:spPr>
        <p:txBody>
          <a:bodyPr wrap="square" lIns="0" tIns="0" rIns="0" bIns="0" rtlCol="0" anchor="ctr"/>
          <a:lstStyle/>
          <a:p>
            <a:pPr indent="0" marL="0">
              <a:buNone/>
            </a:pPr>
            <a:r>
              <a:rPr lang="en-US" sz="1050" dirty="0">
                <a:solidFill>
                  <a:srgbClr val="DDEEFF"/>
                </a:solidFill>
              </a:rPr>
              <a:t>Kingsley Anike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B"/>
          </a:solidFill>
          <a:ln w="12700">
            <a:solidFill>
              <a:srgbClr val="F6F8FB"/>
            </a:solidFill>
            <a:prstDash val="solid"/>
          </a:ln>
        </p:spPr>
      </p:sp>
      <p:sp>
        <p:nvSpPr>
          <p:cNvPr id="3" name="Text 1"/>
          <p:cNvSpPr/>
          <p:nvPr/>
        </p:nvSpPr>
        <p:spPr>
          <a:xfrm>
            <a:off x="502920" y="256032"/>
            <a:ext cx="11155680" cy="347472"/>
          </a:xfrm>
          <a:prstGeom prst="rect">
            <a:avLst/>
          </a:prstGeom>
          <a:noFill/>
          <a:ln/>
        </p:spPr>
        <p:txBody>
          <a:bodyPr wrap="square" lIns="0" tIns="0" rIns="0" bIns="0" rtlCol="0" anchor="ctr"/>
          <a:lstStyle/>
          <a:p>
            <a:pPr indent="0" marL="0">
              <a:buNone/>
            </a:pPr>
            <a:r>
              <a:rPr lang="en-US" sz="2500" b="1" dirty="0">
                <a:solidFill>
                  <a:srgbClr val="0B1F3A"/>
                </a:solidFill>
                <a:latin typeface="Aptos Display" pitchFamily="34" charset="0"/>
                <a:ea typeface="Aptos Display" pitchFamily="34" charset="-122"/>
                <a:cs typeface="Aptos Display" pitchFamily="34" charset="-120"/>
              </a:rPr>
              <a:t>Current Process Challenges</a:t>
            </a:r>
            <a:endParaRPr lang="en-US" sz="2500" dirty="0"/>
          </a:p>
        </p:txBody>
      </p:sp>
      <p:sp>
        <p:nvSpPr>
          <p:cNvPr id="4" name="Shape 2"/>
          <p:cNvSpPr/>
          <p:nvPr/>
        </p:nvSpPr>
        <p:spPr>
          <a:xfrm>
            <a:off x="502920" y="713232"/>
            <a:ext cx="914400" cy="0"/>
          </a:xfrm>
          <a:prstGeom prst="line">
            <a:avLst/>
          </a:prstGeom>
          <a:noFill/>
          <a:ln w="27940">
            <a:solidFill>
              <a:srgbClr val="006E9C"/>
            </a:solidFill>
            <a:prstDash val="solid"/>
          </a:ln>
        </p:spPr>
      </p:sp>
      <p:sp>
        <p:nvSpPr>
          <p:cNvPr id="5" name="Text 3"/>
          <p:cNvSpPr/>
          <p:nvPr/>
        </p:nvSpPr>
        <p:spPr>
          <a:xfrm>
            <a:off x="1600200" y="786384"/>
            <a:ext cx="9601200" cy="182880"/>
          </a:xfrm>
          <a:prstGeom prst="rect">
            <a:avLst/>
          </a:prstGeom>
          <a:noFill/>
          <a:ln/>
        </p:spPr>
        <p:txBody>
          <a:bodyPr wrap="square" lIns="0" tIns="0" rIns="0" bIns="0" rtlCol="0" anchor="ctr"/>
          <a:lstStyle/>
          <a:p>
            <a:pPr indent="0" marL="0">
              <a:buNone/>
            </a:pPr>
            <a:r>
              <a:rPr lang="en-US" sz="1020" dirty="0">
                <a:solidFill>
                  <a:srgbClr val="4B5563"/>
                </a:solidFill>
              </a:rPr>
              <a:t>Current state creates delay, duplication and limited visibility</a:t>
            </a:r>
            <a:endParaRPr lang="en-US" sz="1020" dirty="0"/>
          </a:p>
        </p:txBody>
      </p:sp>
      <p:sp>
        <p:nvSpPr>
          <p:cNvPr id="6" name="Shape 4"/>
          <p:cNvSpPr/>
          <p:nvPr/>
        </p:nvSpPr>
        <p:spPr>
          <a:xfrm>
            <a:off x="594360" y="1325880"/>
            <a:ext cx="5257800" cy="960120"/>
          </a:xfrm>
          <a:prstGeom prst="roundRect">
            <a:avLst>
              <a:gd name="adj" fmla="val 7619"/>
            </a:avLst>
          </a:prstGeom>
          <a:solidFill>
            <a:srgbClr val="FFFFFF"/>
          </a:solidFill>
          <a:ln w="12700">
            <a:solidFill>
              <a:srgbClr val="D7DEE8"/>
            </a:solidFill>
            <a:prstDash val="solid"/>
          </a:ln>
        </p:spPr>
      </p:sp>
      <p:sp>
        <p:nvSpPr>
          <p:cNvPr id="7" name="Text 5"/>
          <p:cNvSpPr/>
          <p:nvPr/>
        </p:nvSpPr>
        <p:spPr>
          <a:xfrm>
            <a:off x="758952" y="1472184"/>
            <a:ext cx="4928616" cy="256032"/>
          </a:xfrm>
          <a:prstGeom prst="rect">
            <a:avLst/>
          </a:prstGeom>
          <a:noFill/>
          <a:ln/>
        </p:spPr>
        <p:txBody>
          <a:bodyPr wrap="square" lIns="0" tIns="0" rIns="0" bIns="0" rtlCol="0" anchor="ctr"/>
          <a:lstStyle/>
          <a:p>
            <a:pPr indent="0" marL="0">
              <a:buNone/>
            </a:pPr>
            <a:r>
              <a:rPr lang="en-US" sz="1400" b="1" dirty="0">
                <a:solidFill>
                  <a:srgbClr val="0B1F3A"/>
                </a:solidFill>
              </a:rPr>
              <a:t>Operational pain points</a:t>
            </a:r>
            <a:endParaRPr lang="en-US" sz="1400" dirty="0"/>
          </a:p>
        </p:txBody>
      </p:sp>
      <p:sp>
        <p:nvSpPr>
          <p:cNvPr id="8" name="Text 6"/>
          <p:cNvSpPr/>
          <p:nvPr/>
        </p:nvSpPr>
        <p:spPr>
          <a:xfrm>
            <a:off x="758952" y="1801368"/>
            <a:ext cx="4928616" cy="393192"/>
          </a:xfrm>
          <a:prstGeom prst="rect">
            <a:avLst/>
          </a:prstGeom>
          <a:noFill/>
          <a:ln/>
        </p:spPr>
        <p:txBody>
          <a:bodyPr wrap="square" lIns="0" tIns="0" rIns="0" bIns="0" rtlCol="0" anchor="ctr">
            <a:normAutofit/>
          </a:bodyPr>
          <a:lstStyle/>
          <a:p>
            <a:pPr indent="0" marL="0">
              <a:buNone/>
            </a:pPr>
            <a:r>
              <a:rPr lang="en-US" sz="1150" dirty="0">
                <a:solidFill>
                  <a:srgbClr val="4B5563"/>
                </a:solidFill>
              </a:rPr>
              <a:t>Applications and documents are handled manually through the inbox, making ownership, completeness checks and progress tracking harder to control.</a:t>
            </a:r>
            <a:endParaRPr lang="en-US" sz="1150" dirty="0"/>
          </a:p>
        </p:txBody>
      </p:sp>
      <p:sp>
        <p:nvSpPr>
          <p:cNvPr id="9" name="Text 7"/>
          <p:cNvSpPr/>
          <p:nvPr/>
        </p:nvSpPr>
        <p:spPr>
          <a:xfrm>
            <a:off x="777240" y="2606040"/>
            <a:ext cx="5029200" cy="3063240"/>
          </a:xfrm>
          <a:prstGeom prst="rect">
            <a:avLst/>
          </a:prstGeom>
          <a:noFill/>
          <a:ln/>
        </p:spPr>
        <p:txBody>
          <a:bodyPr wrap="square" lIns="1016" tIns="1016" rIns="1016" bIns="1016" rtlCol="0" anchor="ctr">
            <a:normAutofit/>
          </a:bodyPr>
          <a:lstStyle/>
          <a:p>
            <a:pPr marL="177800" indent="-177800">
              <a:buSzPct val="100000"/>
              <a:buChar char="•"/>
            </a:pPr>
            <a:r>
              <a:rPr lang="en-US" sz="1700" dirty="0">
                <a:solidFill>
                  <a:srgbClr val="111827"/>
                </a:solidFill>
              </a:rPr>
              <a:t>Applications arrive via email inbox</a:t>
            </a:r>
            <a:endParaRPr lang="en-US" sz="1700" dirty="0"/>
          </a:p>
          <a:p>
            <a:pPr marL="177800" indent="-177800">
              <a:buSzPct val="100000"/>
              <a:buChar char="•"/>
            </a:pPr>
            <a:r>
              <a:rPr lang="en-US" sz="1700" dirty="0">
                <a:solidFill>
                  <a:srgbClr val="111827"/>
                </a:solidFill>
              </a:rPr>
              <a:t>Documents arrive separately</a:t>
            </a:r>
            <a:endParaRPr lang="en-US" sz="1700" dirty="0"/>
          </a:p>
          <a:p>
            <a:pPr marL="177800" indent="-177800">
              <a:buSzPct val="100000"/>
              <a:buChar char="•"/>
            </a:pPr>
            <a:r>
              <a:rPr lang="en-US" sz="1700" dirty="0">
                <a:solidFill>
                  <a:srgbClr val="111827"/>
                </a:solidFill>
              </a:rPr>
              <a:t>Manual completeness checks</a:t>
            </a:r>
            <a:endParaRPr lang="en-US" sz="1700" dirty="0"/>
          </a:p>
          <a:p>
            <a:pPr marL="177800" indent="-177800">
              <a:buSzPct val="100000"/>
              <a:buChar char="•"/>
            </a:pPr>
            <a:r>
              <a:rPr lang="en-US" sz="1700" dirty="0">
                <a:solidFill>
                  <a:srgbClr val="111827"/>
                </a:solidFill>
              </a:rPr>
              <a:t>Manual academic review routing</a:t>
            </a:r>
            <a:endParaRPr lang="en-US" sz="1700" dirty="0"/>
          </a:p>
          <a:p>
            <a:pPr marL="177800" indent="-177800">
              <a:buSzPct val="100000"/>
              <a:buChar char="•"/>
            </a:pPr>
            <a:r>
              <a:rPr lang="en-US" sz="1700" dirty="0">
                <a:solidFill>
                  <a:srgbClr val="111827"/>
                </a:solidFill>
              </a:rPr>
              <a:t>Inconsistent applicant tracking</a:t>
            </a:r>
            <a:endParaRPr lang="en-US" sz="1700" dirty="0"/>
          </a:p>
          <a:p>
            <a:pPr marL="177800" indent="-177800">
              <a:buSzPct val="100000"/>
              <a:buChar char="•"/>
            </a:pPr>
            <a:r>
              <a:rPr lang="en-US" sz="1700" dirty="0">
                <a:solidFill>
                  <a:srgbClr val="111827"/>
                </a:solidFill>
              </a:rPr>
              <a:t>No SLA visibility</a:t>
            </a:r>
            <a:endParaRPr lang="en-US" sz="1700" dirty="0"/>
          </a:p>
        </p:txBody>
      </p:sp>
      <p:sp>
        <p:nvSpPr>
          <p:cNvPr id="10" name="Text 8"/>
          <p:cNvSpPr/>
          <p:nvPr/>
        </p:nvSpPr>
        <p:spPr>
          <a:xfrm>
            <a:off x="502920" y="6565392"/>
            <a:ext cx="6858000" cy="182880"/>
          </a:xfrm>
          <a:prstGeom prst="rect">
            <a:avLst/>
          </a:prstGeom>
          <a:noFill/>
          <a:ln/>
        </p:spPr>
        <p:txBody>
          <a:bodyPr wrap="square" lIns="0" tIns="0" rIns="0" bIns="0" rtlCol="0" anchor="ctr"/>
          <a:lstStyle/>
          <a:p>
            <a:pPr indent="0" marL="0">
              <a:buNone/>
            </a:pPr>
            <a:r>
              <a:rPr lang="en-US" sz="750" dirty="0">
                <a:solidFill>
                  <a:srgbClr val="6B7280"/>
                </a:solidFill>
              </a:rPr>
              <a:t>Admissions Process Automation | Microsoft Power Platform</a:t>
            </a:r>
            <a:endParaRPr lang="en-US" sz="750" dirty="0"/>
          </a:p>
        </p:txBody>
      </p:sp>
      <p:sp>
        <p:nvSpPr>
          <p:cNvPr id="11" name="Text 9"/>
          <p:cNvSpPr/>
          <p:nvPr/>
        </p:nvSpPr>
        <p:spPr>
          <a:xfrm>
            <a:off x="11384280" y="6565392"/>
            <a:ext cx="365760" cy="182880"/>
          </a:xfrm>
          <a:prstGeom prst="rect">
            <a:avLst/>
          </a:prstGeom>
          <a:noFill/>
          <a:ln/>
        </p:spPr>
        <p:txBody>
          <a:bodyPr wrap="square" lIns="0" tIns="0" rIns="0" bIns="0" rtlCol="0" anchor="ctr"/>
          <a:lstStyle/>
          <a:p>
            <a:pPr algn="r" indent="0" marL="0">
              <a:buNone/>
            </a:pPr>
            <a:r>
              <a:rPr lang="en-US" sz="750" dirty="0">
                <a:solidFill>
                  <a:srgbClr val="6B7280"/>
                </a:solidFill>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347472"/>
          </a:xfrm>
          <a:prstGeom prst="rect">
            <a:avLst/>
          </a:prstGeom>
          <a:noFill/>
          <a:ln/>
        </p:spPr>
        <p:txBody>
          <a:bodyPr wrap="square" lIns="0" tIns="0" rIns="0" bIns="0" rtlCol="0" anchor="ctr"/>
          <a:lstStyle/>
          <a:p>
            <a:pPr indent="0" marL="0">
              <a:buNone/>
            </a:pPr>
            <a:r>
              <a:rPr lang="en-US" sz="2500" b="1" dirty="0">
                <a:solidFill>
                  <a:srgbClr val="0B1F3A"/>
                </a:solidFill>
                <a:latin typeface="Aptos Display" pitchFamily="34" charset="0"/>
                <a:ea typeface="Aptos Display" pitchFamily="34" charset="-122"/>
                <a:cs typeface="Aptos Display" pitchFamily="34" charset="-120"/>
              </a:rPr>
              <a:t>Solution Architecture</a:t>
            </a:r>
            <a:endParaRPr lang="en-US" sz="2500" dirty="0"/>
          </a:p>
        </p:txBody>
      </p:sp>
      <p:sp>
        <p:nvSpPr>
          <p:cNvPr id="3" name="Shape 1"/>
          <p:cNvSpPr/>
          <p:nvPr/>
        </p:nvSpPr>
        <p:spPr>
          <a:xfrm>
            <a:off x="502920" y="713232"/>
            <a:ext cx="914400" cy="0"/>
          </a:xfrm>
          <a:prstGeom prst="line">
            <a:avLst/>
          </a:prstGeom>
          <a:noFill/>
          <a:ln w="27940">
            <a:solidFill>
              <a:srgbClr val="006E9C"/>
            </a:solidFill>
            <a:prstDash val="solid"/>
          </a:ln>
        </p:spPr>
      </p:sp>
      <p:sp>
        <p:nvSpPr>
          <p:cNvPr id="4" name="Text 2"/>
          <p:cNvSpPr/>
          <p:nvPr/>
        </p:nvSpPr>
        <p:spPr>
          <a:xfrm>
            <a:off x="1600200" y="786384"/>
            <a:ext cx="9601200" cy="182880"/>
          </a:xfrm>
          <a:prstGeom prst="rect">
            <a:avLst/>
          </a:prstGeom>
          <a:noFill/>
          <a:ln/>
        </p:spPr>
        <p:txBody>
          <a:bodyPr wrap="square" lIns="0" tIns="0" rIns="0" bIns="0" rtlCol="0" anchor="ctr"/>
          <a:lstStyle/>
          <a:p>
            <a:pPr indent="0" marL="0">
              <a:buNone/>
            </a:pPr>
            <a:r>
              <a:rPr lang="en-US" sz="1020" dirty="0">
                <a:solidFill>
                  <a:srgbClr val="4B5563"/>
                </a:solidFill>
              </a:rPr>
              <a:t>How Power Automate and Microsoft 365 are used</a:t>
            </a:r>
            <a:endParaRPr lang="en-US" sz="1020" dirty="0"/>
          </a:p>
        </p:txBody>
      </p:sp>
      <p:sp>
        <p:nvSpPr>
          <p:cNvPr id="5" name="Shape 3"/>
          <p:cNvSpPr/>
          <p:nvPr/>
        </p:nvSpPr>
        <p:spPr>
          <a:xfrm>
            <a:off x="502920" y="1417320"/>
            <a:ext cx="3611880" cy="1078992"/>
          </a:xfrm>
          <a:prstGeom prst="roundRect">
            <a:avLst>
              <a:gd name="adj" fmla="val 6780"/>
            </a:avLst>
          </a:prstGeom>
          <a:solidFill>
            <a:srgbClr val="FFFFFF"/>
          </a:solidFill>
          <a:ln w="12700">
            <a:solidFill>
              <a:srgbClr val="D7DEE8"/>
            </a:solidFill>
            <a:prstDash val="solid"/>
          </a:ln>
        </p:spPr>
      </p:sp>
      <p:sp>
        <p:nvSpPr>
          <p:cNvPr id="6" name="Text 4"/>
          <p:cNvSpPr/>
          <p:nvPr/>
        </p:nvSpPr>
        <p:spPr>
          <a:xfrm>
            <a:off x="667512" y="1554480"/>
            <a:ext cx="3282696" cy="228600"/>
          </a:xfrm>
          <a:prstGeom prst="rect">
            <a:avLst/>
          </a:prstGeom>
          <a:noFill/>
          <a:ln/>
        </p:spPr>
        <p:txBody>
          <a:bodyPr wrap="square" lIns="0" tIns="0" rIns="0" bIns="0" rtlCol="0" anchor="ctr"/>
          <a:lstStyle/>
          <a:p>
            <a:pPr indent="0" marL="0">
              <a:buNone/>
            </a:pPr>
            <a:r>
              <a:rPr lang="en-US" sz="1400" b="1" dirty="0">
                <a:solidFill>
                  <a:srgbClr val="0B1F3A"/>
                </a:solidFill>
              </a:rPr>
              <a:t>Microsoft Forms</a:t>
            </a:r>
            <a:endParaRPr lang="en-US" sz="1400" dirty="0"/>
          </a:p>
        </p:txBody>
      </p:sp>
      <p:sp>
        <p:nvSpPr>
          <p:cNvPr id="7" name="Text 5"/>
          <p:cNvSpPr/>
          <p:nvPr/>
        </p:nvSpPr>
        <p:spPr>
          <a:xfrm>
            <a:off x="667512" y="1856232"/>
            <a:ext cx="3282696" cy="201168"/>
          </a:xfrm>
          <a:prstGeom prst="rect">
            <a:avLst/>
          </a:prstGeom>
          <a:noFill/>
          <a:ln/>
        </p:spPr>
        <p:txBody>
          <a:bodyPr wrap="square" lIns="0" tIns="0" rIns="0" bIns="0" rtlCol="0" anchor="ctr"/>
          <a:lstStyle/>
          <a:p>
            <a:pPr indent="0" marL="0">
              <a:buNone/>
            </a:pPr>
            <a:r>
              <a:rPr lang="en-US" sz="1100" b="1" dirty="0">
                <a:solidFill>
                  <a:srgbClr val="0A6D7C"/>
                </a:solidFill>
              </a:rPr>
              <a:t>Applicant intake</a:t>
            </a:r>
            <a:endParaRPr lang="en-US" sz="1100" dirty="0"/>
          </a:p>
        </p:txBody>
      </p:sp>
      <p:sp>
        <p:nvSpPr>
          <p:cNvPr id="8" name="Text 6"/>
          <p:cNvSpPr/>
          <p:nvPr/>
        </p:nvSpPr>
        <p:spPr>
          <a:xfrm>
            <a:off x="667512" y="2112264"/>
            <a:ext cx="3282696" cy="237744"/>
          </a:xfrm>
          <a:prstGeom prst="rect">
            <a:avLst/>
          </a:prstGeom>
          <a:noFill/>
          <a:ln/>
        </p:spPr>
        <p:txBody>
          <a:bodyPr wrap="square" lIns="0" tIns="0" rIns="0" bIns="0" rtlCol="0" anchor="ctr">
            <a:normAutofit/>
          </a:bodyPr>
          <a:lstStyle/>
          <a:p>
            <a:pPr indent="0" marL="0">
              <a:buNone/>
            </a:pPr>
            <a:r>
              <a:rPr lang="en-US" sz="1050" dirty="0">
                <a:solidFill>
                  <a:srgbClr val="4B5563"/>
                </a:solidFill>
              </a:rPr>
              <a:t>Standardised application capture</a:t>
            </a:r>
            <a:endParaRPr lang="en-US" sz="1050" dirty="0"/>
          </a:p>
        </p:txBody>
      </p:sp>
      <p:sp>
        <p:nvSpPr>
          <p:cNvPr id="9" name="Shape 7"/>
          <p:cNvSpPr/>
          <p:nvPr/>
        </p:nvSpPr>
        <p:spPr>
          <a:xfrm>
            <a:off x="4370832" y="1417320"/>
            <a:ext cx="3611880" cy="1078992"/>
          </a:xfrm>
          <a:prstGeom prst="roundRect">
            <a:avLst>
              <a:gd name="adj" fmla="val 6780"/>
            </a:avLst>
          </a:prstGeom>
          <a:solidFill>
            <a:srgbClr val="006E9C"/>
          </a:solidFill>
          <a:ln w="12700">
            <a:solidFill>
              <a:srgbClr val="006E9C"/>
            </a:solidFill>
            <a:prstDash val="solid"/>
          </a:ln>
        </p:spPr>
      </p:sp>
      <p:sp>
        <p:nvSpPr>
          <p:cNvPr id="10" name="Text 8"/>
          <p:cNvSpPr/>
          <p:nvPr/>
        </p:nvSpPr>
        <p:spPr>
          <a:xfrm>
            <a:off x="4535424" y="1554480"/>
            <a:ext cx="3282696" cy="228600"/>
          </a:xfrm>
          <a:prstGeom prst="rect">
            <a:avLst/>
          </a:prstGeom>
          <a:noFill/>
          <a:ln/>
        </p:spPr>
        <p:txBody>
          <a:bodyPr wrap="square" lIns="0" tIns="0" rIns="0" bIns="0" rtlCol="0" anchor="ctr"/>
          <a:lstStyle/>
          <a:p>
            <a:pPr indent="0" marL="0">
              <a:buNone/>
            </a:pPr>
            <a:r>
              <a:rPr lang="en-US" sz="1400" b="1" dirty="0">
                <a:solidFill>
                  <a:srgbClr val="FFFFFF"/>
                </a:solidFill>
              </a:rPr>
              <a:t>Power Automate</a:t>
            </a:r>
            <a:endParaRPr lang="en-US" sz="1400" dirty="0"/>
          </a:p>
        </p:txBody>
      </p:sp>
      <p:sp>
        <p:nvSpPr>
          <p:cNvPr id="11" name="Text 9"/>
          <p:cNvSpPr/>
          <p:nvPr/>
        </p:nvSpPr>
        <p:spPr>
          <a:xfrm>
            <a:off x="4535424" y="1856232"/>
            <a:ext cx="3282696" cy="201168"/>
          </a:xfrm>
          <a:prstGeom prst="rect">
            <a:avLst/>
          </a:prstGeom>
          <a:noFill/>
          <a:ln/>
        </p:spPr>
        <p:txBody>
          <a:bodyPr wrap="square" lIns="0" tIns="0" rIns="0" bIns="0" rtlCol="0" anchor="ctr"/>
          <a:lstStyle/>
          <a:p>
            <a:pPr indent="0" marL="0">
              <a:buNone/>
            </a:pPr>
            <a:r>
              <a:rPr lang="en-US" sz="1100" b="1" dirty="0">
                <a:solidFill>
                  <a:srgbClr val="DDEEFF"/>
                </a:solidFill>
              </a:rPr>
              <a:t>Workflow orchestration</a:t>
            </a:r>
            <a:endParaRPr lang="en-US" sz="1100" dirty="0"/>
          </a:p>
        </p:txBody>
      </p:sp>
      <p:sp>
        <p:nvSpPr>
          <p:cNvPr id="12" name="Text 10"/>
          <p:cNvSpPr/>
          <p:nvPr/>
        </p:nvSpPr>
        <p:spPr>
          <a:xfrm>
            <a:off x="4535424" y="2112264"/>
            <a:ext cx="3282696" cy="237744"/>
          </a:xfrm>
          <a:prstGeom prst="rect">
            <a:avLst/>
          </a:prstGeom>
          <a:noFill/>
          <a:ln/>
        </p:spPr>
        <p:txBody>
          <a:bodyPr wrap="square" lIns="0" tIns="0" rIns="0" bIns="0" rtlCol="0" anchor="ctr">
            <a:normAutofit/>
          </a:bodyPr>
          <a:lstStyle/>
          <a:p>
            <a:pPr indent="0" marL="0">
              <a:buNone/>
            </a:pPr>
            <a:r>
              <a:rPr lang="en-US" sz="1050" dirty="0">
                <a:solidFill>
                  <a:srgbClr val="FFFFFF"/>
                </a:solidFill>
              </a:rPr>
              <a:t>Triggers, conditions, approvals and updates</a:t>
            </a:r>
            <a:endParaRPr lang="en-US" sz="1050" dirty="0"/>
          </a:p>
        </p:txBody>
      </p:sp>
      <p:sp>
        <p:nvSpPr>
          <p:cNvPr id="13" name="Shape 11"/>
          <p:cNvSpPr/>
          <p:nvPr/>
        </p:nvSpPr>
        <p:spPr>
          <a:xfrm>
            <a:off x="8238744" y="1417320"/>
            <a:ext cx="3611880" cy="1078992"/>
          </a:xfrm>
          <a:prstGeom prst="roundRect">
            <a:avLst>
              <a:gd name="adj" fmla="val 6780"/>
            </a:avLst>
          </a:prstGeom>
          <a:solidFill>
            <a:srgbClr val="FFFFFF"/>
          </a:solidFill>
          <a:ln w="12700">
            <a:solidFill>
              <a:srgbClr val="D7DEE8"/>
            </a:solidFill>
            <a:prstDash val="solid"/>
          </a:ln>
        </p:spPr>
      </p:sp>
      <p:sp>
        <p:nvSpPr>
          <p:cNvPr id="14" name="Text 12"/>
          <p:cNvSpPr/>
          <p:nvPr/>
        </p:nvSpPr>
        <p:spPr>
          <a:xfrm>
            <a:off x="8403336" y="1554480"/>
            <a:ext cx="3282696" cy="228600"/>
          </a:xfrm>
          <a:prstGeom prst="rect">
            <a:avLst/>
          </a:prstGeom>
          <a:noFill/>
          <a:ln/>
        </p:spPr>
        <p:txBody>
          <a:bodyPr wrap="square" lIns="0" tIns="0" rIns="0" bIns="0" rtlCol="0" anchor="ctr"/>
          <a:lstStyle/>
          <a:p>
            <a:pPr indent="0" marL="0">
              <a:buNone/>
            </a:pPr>
            <a:r>
              <a:rPr lang="en-US" sz="1400" b="1" dirty="0">
                <a:solidFill>
                  <a:srgbClr val="0B1F3A"/>
                </a:solidFill>
              </a:rPr>
              <a:t>SharePoint List</a:t>
            </a:r>
            <a:endParaRPr lang="en-US" sz="1400" dirty="0"/>
          </a:p>
        </p:txBody>
      </p:sp>
      <p:sp>
        <p:nvSpPr>
          <p:cNvPr id="15" name="Text 13"/>
          <p:cNvSpPr/>
          <p:nvPr/>
        </p:nvSpPr>
        <p:spPr>
          <a:xfrm>
            <a:off x="8403336" y="1856232"/>
            <a:ext cx="3282696" cy="201168"/>
          </a:xfrm>
          <a:prstGeom prst="rect">
            <a:avLst/>
          </a:prstGeom>
          <a:noFill/>
          <a:ln/>
        </p:spPr>
        <p:txBody>
          <a:bodyPr wrap="square" lIns="0" tIns="0" rIns="0" bIns="0" rtlCol="0" anchor="ctr"/>
          <a:lstStyle/>
          <a:p>
            <a:pPr indent="0" marL="0">
              <a:buNone/>
            </a:pPr>
            <a:r>
              <a:rPr lang="en-US" sz="1100" b="1" dirty="0">
                <a:solidFill>
                  <a:srgbClr val="0A6D7C"/>
                </a:solidFill>
              </a:rPr>
              <a:t>Application tracking</a:t>
            </a:r>
            <a:endParaRPr lang="en-US" sz="1100" dirty="0"/>
          </a:p>
        </p:txBody>
      </p:sp>
      <p:sp>
        <p:nvSpPr>
          <p:cNvPr id="16" name="Text 14"/>
          <p:cNvSpPr/>
          <p:nvPr/>
        </p:nvSpPr>
        <p:spPr>
          <a:xfrm>
            <a:off x="8403336" y="2112264"/>
            <a:ext cx="3282696" cy="237744"/>
          </a:xfrm>
          <a:prstGeom prst="rect">
            <a:avLst/>
          </a:prstGeom>
          <a:noFill/>
          <a:ln/>
        </p:spPr>
        <p:txBody>
          <a:bodyPr wrap="square" lIns="0" tIns="0" rIns="0" bIns="0" rtlCol="0" anchor="ctr">
            <a:normAutofit/>
          </a:bodyPr>
          <a:lstStyle/>
          <a:p>
            <a:pPr indent="0" marL="0">
              <a:buNone/>
            </a:pPr>
            <a:r>
              <a:rPr lang="en-US" sz="1050" dirty="0">
                <a:solidFill>
                  <a:srgbClr val="4B5563"/>
                </a:solidFill>
              </a:rPr>
              <a:t>Single source of truth and status history</a:t>
            </a:r>
            <a:endParaRPr lang="en-US" sz="1050" dirty="0"/>
          </a:p>
        </p:txBody>
      </p:sp>
      <p:sp>
        <p:nvSpPr>
          <p:cNvPr id="17" name="Shape 15"/>
          <p:cNvSpPr/>
          <p:nvPr/>
        </p:nvSpPr>
        <p:spPr>
          <a:xfrm>
            <a:off x="502920" y="2953512"/>
            <a:ext cx="3611880" cy="1078992"/>
          </a:xfrm>
          <a:prstGeom prst="roundRect">
            <a:avLst>
              <a:gd name="adj" fmla="val 6780"/>
            </a:avLst>
          </a:prstGeom>
          <a:solidFill>
            <a:srgbClr val="FFFFFF"/>
          </a:solidFill>
          <a:ln w="12700">
            <a:solidFill>
              <a:srgbClr val="D7DEE8"/>
            </a:solidFill>
            <a:prstDash val="solid"/>
          </a:ln>
        </p:spPr>
      </p:sp>
      <p:sp>
        <p:nvSpPr>
          <p:cNvPr id="18" name="Text 16"/>
          <p:cNvSpPr/>
          <p:nvPr/>
        </p:nvSpPr>
        <p:spPr>
          <a:xfrm>
            <a:off x="667512" y="3090672"/>
            <a:ext cx="3282696" cy="228600"/>
          </a:xfrm>
          <a:prstGeom prst="rect">
            <a:avLst/>
          </a:prstGeom>
          <a:noFill/>
          <a:ln/>
        </p:spPr>
        <p:txBody>
          <a:bodyPr wrap="square" lIns="0" tIns="0" rIns="0" bIns="0" rtlCol="0" anchor="ctr"/>
          <a:lstStyle/>
          <a:p>
            <a:pPr indent="0" marL="0">
              <a:buNone/>
            </a:pPr>
            <a:r>
              <a:rPr lang="en-US" sz="1400" b="1" dirty="0">
                <a:solidFill>
                  <a:srgbClr val="0B1F3A"/>
                </a:solidFill>
              </a:rPr>
              <a:t>SharePoint Library</a:t>
            </a:r>
            <a:endParaRPr lang="en-US" sz="1400" dirty="0"/>
          </a:p>
        </p:txBody>
      </p:sp>
      <p:sp>
        <p:nvSpPr>
          <p:cNvPr id="19" name="Text 17"/>
          <p:cNvSpPr/>
          <p:nvPr/>
        </p:nvSpPr>
        <p:spPr>
          <a:xfrm>
            <a:off x="667512" y="3392424"/>
            <a:ext cx="3282696" cy="201168"/>
          </a:xfrm>
          <a:prstGeom prst="rect">
            <a:avLst/>
          </a:prstGeom>
          <a:noFill/>
          <a:ln/>
        </p:spPr>
        <p:txBody>
          <a:bodyPr wrap="square" lIns="0" tIns="0" rIns="0" bIns="0" rtlCol="0" anchor="ctr"/>
          <a:lstStyle/>
          <a:p>
            <a:pPr indent="0" marL="0">
              <a:buNone/>
            </a:pPr>
            <a:r>
              <a:rPr lang="en-US" sz="1100" b="1" dirty="0">
                <a:solidFill>
                  <a:srgbClr val="0A6D7C"/>
                </a:solidFill>
              </a:rPr>
              <a:t>Document repository</a:t>
            </a:r>
            <a:endParaRPr lang="en-US" sz="1100" dirty="0"/>
          </a:p>
        </p:txBody>
      </p:sp>
      <p:sp>
        <p:nvSpPr>
          <p:cNvPr id="20" name="Text 18"/>
          <p:cNvSpPr/>
          <p:nvPr/>
        </p:nvSpPr>
        <p:spPr>
          <a:xfrm>
            <a:off x="667512" y="3648456"/>
            <a:ext cx="3282696" cy="237744"/>
          </a:xfrm>
          <a:prstGeom prst="rect">
            <a:avLst/>
          </a:prstGeom>
          <a:noFill/>
          <a:ln/>
        </p:spPr>
        <p:txBody>
          <a:bodyPr wrap="square" lIns="0" tIns="0" rIns="0" bIns="0" rtlCol="0" anchor="ctr">
            <a:normAutofit/>
          </a:bodyPr>
          <a:lstStyle/>
          <a:p>
            <a:pPr indent="0" marL="0">
              <a:buNone/>
            </a:pPr>
            <a:r>
              <a:rPr lang="en-US" sz="1050" dirty="0">
                <a:solidFill>
                  <a:srgbClr val="4B5563"/>
                </a:solidFill>
              </a:rPr>
              <a:t>Centralised applicant document storage</a:t>
            </a:r>
            <a:endParaRPr lang="en-US" sz="1050" dirty="0"/>
          </a:p>
        </p:txBody>
      </p:sp>
      <p:sp>
        <p:nvSpPr>
          <p:cNvPr id="21" name="Shape 19"/>
          <p:cNvSpPr/>
          <p:nvPr/>
        </p:nvSpPr>
        <p:spPr>
          <a:xfrm>
            <a:off x="4370832" y="2953512"/>
            <a:ext cx="3611880" cy="1078992"/>
          </a:xfrm>
          <a:prstGeom prst="roundRect">
            <a:avLst>
              <a:gd name="adj" fmla="val 6780"/>
            </a:avLst>
          </a:prstGeom>
          <a:solidFill>
            <a:srgbClr val="FFFFFF"/>
          </a:solidFill>
          <a:ln w="12700">
            <a:solidFill>
              <a:srgbClr val="D7DEE8"/>
            </a:solidFill>
            <a:prstDash val="solid"/>
          </a:ln>
        </p:spPr>
      </p:sp>
      <p:sp>
        <p:nvSpPr>
          <p:cNvPr id="22" name="Text 20"/>
          <p:cNvSpPr/>
          <p:nvPr/>
        </p:nvSpPr>
        <p:spPr>
          <a:xfrm>
            <a:off x="4535424" y="3090672"/>
            <a:ext cx="3282696" cy="228600"/>
          </a:xfrm>
          <a:prstGeom prst="rect">
            <a:avLst/>
          </a:prstGeom>
          <a:noFill/>
          <a:ln/>
        </p:spPr>
        <p:txBody>
          <a:bodyPr wrap="square" lIns="0" tIns="0" rIns="0" bIns="0" rtlCol="0" anchor="ctr"/>
          <a:lstStyle/>
          <a:p>
            <a:pPr indent="0" marL="0">
              <a:buNone/>
            </a:pPr>
            <a:r>
              <a:rPr lang="en-US" sz="1400" b="1" dirty="0">
                <a:solidFill>
                  <a:srgbClr val="0B1F3A"/>
                </a:solidFill>
              </a:rPr>
              <a:t>Outlook</a:t>
            </a:r>
            <a:endParaRPr lang="en-US" sz="1400" dirty="0"/>
          </a:p>
        </p:txBody>
      </p:sp>
      <p:sp>
        <p:nvSpPr>
          <p:cNvPr id="23" name="Text 21"/>
          <p:cNvSpPr/>
          <p:nvPr/>
        </p:nvSpPr>
        <p:spPr>
          <a:xfrm>
            <a:off x="4535424" y="3392424"/>
            <a:ext cx="3282696" cy="201168"/>
          </a:xfrm>
          <a:prstGeom prst="rect">
            <a:avLst/>
          </a:prstGeom>
          <a:noFill/>
          <a:ln/>
        </p:spPr>
        <p:txBody>
          <a:bodyPr wrap="square" lIns="0" tIns="0" rIns="0" bIns="0" rtlCol="0" anchor="ctr"/>
          <a:lstStyle/>
          <a:p>
            <a:pPr indent="0" marL="0">
              <a:buNone/>
            </a:pPr>
            <a:r>
              <a:rPr lang="en-US" sz="1100" b="1" dirty="0">
                <a:solidFill>
                  <a:srgbClr val="0A6D7C"/>
                </a:solidFill>
              </a:rPr>
              <a:t>Notifications and approvals</a:t>
            </a:r>
            <a:endParaRPr lang="en-US" sz="1100" dirty="0"/>
          </a:p>
        </p:txBody>
      </p:sp>
      <p:sp>
        <p:nvSpPr>
          <p:cNvPr id="24" name="Text 22"/>
          <p:cNvSpPr/>
          <p:nvPr/>
        </p:nvSpPr>
        <p:spPr>
          <a:xfrm>
            <a:off x="4535424" y="3648456"/>
            <a:ext cx="3282696" cy="237744"/>
          </a:xfrm>
          <a:prstGeom prst="rect">
            <a:avLst/>
          </a:prstGeom>
          <a:noFill/>
          <a:ln/>
        </p:spPr>
        <p:txBody>
          <a:bodyPr wrap="square" lIns="0" tIns="0" rIns="0" bIns="0" rtlCol="0" anchor="ctr">
            <a:normAutofit/>
          </a:bodyPr>
          <a:lstStyle/>
          <a:p>
            <a:pPr indent="0" marL="0">
              <a:buNone/>
            </a:pPr>
            <a:r>
              <a:rPr lang="en-US" sz="1050" dirty="0">
                <a:solidFill>
                  <a:srgbClr val="4B5563"/>
                </a:solidFill>
              </a:rPr>
              <a:t>Applicant updates and reviewer decisions</a:t>
            </a:r>
            <a:endParaRPr lang="en-US" sz="1050" dirty="0"/>
          </a:p>
        </p:txBody>
      </p:sp>
      <p:sp>
        <p:nvSpPr>
          <p:cNvPr id="25" name="Shape 23"/>
          <p:cNvSpPr/>
          <p:nvPr/>
        </p:nvSpPr>
        <p:spPr>
          <a:xfrm>
            <a:off x="8238744" y="2953512"/>
            <a:ext cx="3611880" cy="1078992"/>
          </a:xfrm>
          <a:prstGeom prst="roundRect">
            <a:avLst>
              <a:gd name="adj" fmla="val 6780"/>
            </a:avLst>
          </a:prstGeom>
          <a:solidFill>
            <a:srgbClr val="FFFFFF"/>
          </a:solidFill>
          <a:ln w="12700">
            <a:solidFill>
              <a:srgbClr val="D7DEE8"/>
            </a:solidFill>
            <a:prstDash val="solid"/>
          </a:ln>
        </p:spPr>
      </p:sp>
      <p:sp>
        <p:nvSpPr>
          <p:cNvPr id="26" name="Text 24"/>
          <p:cNvSpPr/>
          <p:nvPr/>
        </p:nvSpPr>
        <p:spPr>
          <a:xfrm>
            <a:off x="8403336" y="3090672"/>
            <a:ext cx="3282696" cy="228600"/>
          </a:xfrm>
          <a:prstGeom prst="rect">
            <a:avLst/>
          </a:prstGeom>
          <a:noFill/>
          <a:ln/>
        </p:spPr>
        <p:txBody>
          <a:bodyPr wrap="square" lIns="0" tIns="0" rIns="0" bIns="0" rtlCol="0" anchor="ctr"/>
          <a:lstStyle/>
          <a:p>
            <a:pPr indent="0" marL="0">
              <a:buNone/>
            </a:pPr>
            <a:r>
              <a:rPr lang="en-US" sz="1400" b="1" dirty="0">
                <a:solidFill>
                  <a:srgbClr val="0B1F3A"/>
                </a:solidFill>
              </a:rPr>
              <a:t>Scheduled Flow</a:t>
            </a:r>
            <a:endParaRPr lang="en-US" sz="1400" dirty="0"/>
          </a:p>
        </p:txBody>
      </p:sp>
      <p:sp>
        <p:nvSpPr>
          <p:cNvPr id="27" name="Text 25"/>
          <p:cNvSpPr/>
          <p:nvPr/>
        </p:nvSpPr>
        <p:spPr>
          <a:xfrm>
            <a:off x="8403336" y="3392424"/>
            <a:ext cx="3282696" cy="201168"/>
          </a:xfrm>
          <a:prstGeom prst="rect">
            <a:avLst/>
          </a:prstGeom>
          <a:noFill/>
          <a:ln/>
        </p:spPr>
        <p:txBody>
          <a:bodyPr wrap="square" lIns="0" tIns="0" rIns="0" bIns="0" rtlCol="0" anchor="ctr"/>
          <a:lstStyle/>
          <a:p>
            <a:pPr indent="0" marL="0">
              <a:buNone/>
            </a:pPr>
            <a:r>
              <a:rPr lang="en-US" sz="1100" b="1" dirty="0">
                <a:solidFill>
                  <a:srgbClr val="0A6D7C"/>
                </a:solidFill>
              </a:rPr>
              <a:t>SLA monitoring</a:t>
            </a:r>
            <a:endParaRPr lang="en-US" sz="1100" dirty="0"/>
          </a:p>
        </p:txBody>
      </p:sp>
      <p:sp>
        <p:nvSpPr>
          <p:cNvPr id="28" name="Text 26"/>
          <p:cNvSpPr/>
          <p:nvPr/>
        </p:nvSpPr>
        <p:spPr>
          <a:xfrm>
            <a:off x="8403336" y="3648456"/>
            <a:ext cx="3282696" cy="237744"/>
          </a:xfrm>
          <a:prstGeom prst="rect">
            <a:avLst/>
          </a:prstGeom>
          <a:noFill/>
          <a:ln/>
        </p:spPr>
        <p:txBody>
          <a:bodyPr wrap="square" lIns="0" tIns="0" rIns="0" bIns="0" rtlCol="0" anchor="ctr">
            <a:normAutofit/>
          </a:bodyPr>
          <a:lstStyle/>
          <a:p>
            <a:pPr indent="0" marL="0">
              <a:buNone/>
            </a:pPr>
            <a:r>
              <a:rPr lang="en-US" sz="1050" dirty="0">
                <a:solidFill>
                  <a:srgbClr val="4B5563"/>
                </a:solidFill>
              </a:rPr>
              <a:t>Overdue checks and escalation alerts</a:t>
            </a:r>
            <a:endParaRPr lang="en-US" sz="1050" dirty="0"/>
          </a:p>
        </p:txBody>
      </p:sp>
      <p:sp>
        <p:nvSpPr>
          <p:cNvPr id="29" name="Shape 27"/>
          <p:cNvSpPr/>
          <p:nvPr/>
        </p:nvSpPr>
        <p:spPr>
          <a:xfrm>
            <a:off x="594360" y="4800600"/>
            <a:ext cx="11064240" cy="914400"/>
          </a:xfrm>
          <a:prstGeom prst="roundRect">
            <a:avLst>
              <a:gd name="adj" fmla="val 8000"/>
            </a:avLst>
          </a:prstGeom>
          <a:solidFill>
            <a:srgbClr val="EEF6FF"/>
          </a:solidFill>
          <a:ln w="12700">
            <a:solidFill>
              <a:srgbClr val="B7D7F5"/>
            </a:solidFill>
            <a:prstDash val="solid"/>
          </a:ln>
        </p:spPr>
      </p:sp>
      <p:sp>
        <p:nvSpPr>
          <p:cNvPr id="30" name="Text 28"/>
          <p:cNvSpPr/>
          <p:nvPr/>
        </p:nvSpPr>
        <p:spPr>
          <a:xfrm>
            <a:off x="822960" y="4910328"/>
            <a:ext cx="2011680" cy="228600"/>
          </a:xfrm>
          <a:prstGeom prst="rect">
            <a:avLst/>
          </a:prstGeom>
          <a:noFill/>
          <a:ln/>
        </p:spPr>
        <p:txBody>
          <a:bodyPr wrap="square" lIns="0" tIns="0" rIns="0" bIns="0" rtlCol="0" anchor="ctr"/>
          <a:lstStyle/>
          <a:p>
            <a:pPr indent="0" marL="0">
              <a:buNone/>
            </a:pPr>
            <a:r>
              <a:rPr lang="en-US" sz="1400" b="1" dirty="0">
                <a:solidFill>
                  <a:srgbClr val="0B1F3A"/>
                </a:solidFill>
              </a:rPr>
              <a:t>Design reasoning</a:t>
            </a:r>
            <a:endParaRPr lang="en-US" sz="1400" dirty="0"/>
          </a:p>
        </p:txBody>
      </p:sp>
      <p:sp>
        <p:nvSpPr>
          <p:cNvPr id="31" name="Text 29"/>
          <p:cNvSpPr/>
          <p:nvPr/>
        </p:nvSpPr>
        <p:spPr>
          <a:xfrm>
            <a:off x="3063240" y="4892040"/>
            <a:ext cx="8138160" cy="411480"/>
          </a:xfrm>
          <a:prstGeom prst="rect">
            <a:avLst/>
          </a:prstGeom>
          <a:noFill/>
          <a:ln/>
        </p:spPr>
        <p:txBody>
          <a:bodyPr wrap="square" lIns="0" tIns="0" rIns="0" bIns="0" rtlCol="0" anchor="ctr">
            <a:normAutofit/>
          </a:bodyPr>
          <a:lstStyle/>
          <a:p>
            <a:pPr indent="0" marL="0">
              <a:buNone/>
            </a:pPr>
            <a:r>
              <a:rPr lang="en-US" sz="1230" dirty="0">
                <a:solidFill>
                  <a:srgbClr val="111827"/>
                </a:solidFill>
              </a:rPr>
              <a:t>Microsoft-native tools reduce integration complexity and keep the process familiar for admissions teams while still providing automation, tracking, permissions and auditability.</a:t>
            </a:r>
            <a:endParaRPr lang="en-US" sz="1230" dirty="0"/>
          </a:p>
        </p:txBody>
      </p:sp>
      <p:sp>
        <p:nvSpPr>
          <p:cNvPr id="32" name="Text 30"/>
          <p:cNvSpPr/>
          <p:nvPr/>
        </p:nvSpPr>
        <p:spPr>
          <a:xfrm>
            <a:off x="502920" y="6565392"/>
            <a:ext cx="6858000" cy="182880"/>
          </a:xfrm>
          <a:prstGeom prst="rect">
            <a:avLst/>
          </a:prstGeom>
          <a:noFill/>
          <a:ln/>
        </p:spPr>
        <p:txBody>
          <a:bodyPr wrap="square" lIns="0" tIns="0" rIns="0" bIns="0" rtlCol="0" anchor="ctr"/>
          <a:lstStyle/>
          <a:p>
            <a:pPr indent="0" marL="0">
              <a:buNone/>
            </a:pPr>
            <a:r>
              <a:rPr lang="en-US" sz="750" dirty="0">
                <a:solidFill>
                  <a:srgbClr val="6B7280"/>
                </a:solidFill>
              </a:rPr>
              <a:t>Admissions Process Automation | Microsoft Power Platform</a:t>
            </a:r>
            <a:endParaRPr lang="en-US" sz="750" dirty="0"/>
          </a:p>
        </p:txBody>
      </p:sp>
      <p:sp>
        <p:nvSpPr>
          <p:cNvPr id="33" name="Text 31"/>
          <p:cNvSpPr/>
          <p:nvPr/>
        </p:nvSpPr>
        <p:spPr>
          <a:xfrm>
            <a:off x="11384280" y="6565392"/>
            <a:ext cx="365760" cy="182880"/>
          </a:xfrm>
          <a:prstGeom prst="rect">
            <a:avLst/>
          </a:prstGeom>
          <a:noFill/>
          <a:ln/>
        </p:spPr>
        <p:txBody>
          <a:bodyPr wrap="square" lIns="0" tIns="0" rIns="0" bIns="0" rtlCol="0" anchor="ctr"/>
          <a:lstStyle/>
          <a:p>
            <a:pPr algn="r" indent="0" marL="0">
              <a:buNone/>
            </a:pPr>
            <a:r>
              <a:rPr lang="en-US" sz="750" dirty="0">
                <a:solidFill>
                  <a:srgbClr val="6B7280"/>
                </a:solidFill>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347472"/>
          </a:xfrm>
          <a:prstGeom prst="rect">
            <a:avLst/>
          </a:prstGeom>
          <a:noFill/>
          <a:ln/>
        </p:spPr>
        <p:txBody>
          <a:bodyPr wrap="square" lIns="0" tIns="0" rIns="0" bIns="0" rtlCol="0" anchor="ctr"/>
          <a:lstStyle/>
          <a:p>
            <a:pPr indent="0" marL="0">
              <a:buNone/>
            </a:pPr>
            <a:r>
              <a:rPr lang="en-US" sz="2500" b="1" dirty="0">
                <a:solidFill>
                  <a:srgbClr val="0B1F3A"/>
                </a:solidFill>
                <a:latin typeface="Aptos Display" pitchFamily="34" charset="0"/>
                <a:ea typeface="Aptos Display" pitchFamily="34" charset="-122"/>
                <a:cs typeface="Aptos Display" pitchFamily="34" charset="-120"/>
              </a:rPr>
              <a:t>End-to-End Workflow</a:t>
            </a:r>
            <a:endParaRPr lang="en-US" sz="2500" dirty="0"/>
          </a:p>
        </p:txBody>
      </p:sp>
      <p:sp>
        <p:nvSpPr>
          <p:cNvPr id="3" name="Shape 1"/>
          <p:cNvSpPr/>
          <p:nvPr/>
        </p:nvSpPr>
        <p:spPr>
          <a:xfrm>
            <a:off x="502920" y="713232"/>
            <a:ext cx="914400" cy="0"/>
          </a:xfrm>
          <a:prstGeom prst="line">
            <a:avLst/>
          </a:prstGeom>
          <a:noFill/>
          <a:ln w="27940">
            <a:solidFill>
              <a:srgbClr val="006E9C"/>
            </a:solidFill>
            <a:prstDash val="solid"/>
          </a:ln>
        </p:spPr>
      </p:sp>
      <p:sp>
        <p:nvSpPr>
          <p:cNvPr id="4" name="Text 2"/>
          <p:cNvSpPr/>
          <p:nvPr/>
        </p:nvSpPr>
        <p:spPr>
          <a:xfrm>
            <a:off x="1600200" y="786384"/>
            <a:ext cx="9601200" cy="182880"/>
          </a:xfrm>
          <a:prstGeom prst="rect">
            <a:avLst/>
          </a:prstGeom>
          <a:noFill/>
          <a:ln/>
        </p:spPr>
        <p:txBody>
          <a:bodyPr wrap="square" lIns="0" tIns="0" rIns="0" bIns="0" rtlCol="0" anchor="ctr"/>
          <a:lstStyle/>
          <a:p>
            <a:pPr indent="0" marL="0">
              <a:buNone/>
            </a:pPr>
            <a:r>
              <a:rPr lang="en-US" sz="1020" dirty="0">
                <a:solidFill>
                  <a:srgbClr val="4B5563"/>
                </a:solidFill>
              </a:rPr>
              <a:t>From applicant submission to decision outcome</a:t>
            </a:r>
            <a:endParaRPr lang="en-US" sz="1020" dirty="0"/>
          </a:p>
        </p:txBody>
      </p:sp>
      <p:pic>
        <p:nvPicPr>
          <p:cNvPr id="5" name="Image 0" descr="/mnt/data/extracted_imgs/slide4_flow_crop.png">    </p:cNvPr>
          <p:cNvPicPr>
            <a:picLocks noChangeAspect="1"/>
          </p:cNvPicPr>
          <p:nvPr/>
        </p:nvPicPr>
        <p:blipFill>
          <a:blip r:embed="rId1"/>
          <a:stretch>
            <a:fillRect/>
          </a:stretch>
        </p:blipFill>
        <p:spPr>
          <a:xfrm>
            <a:off x="1446393" y="1097280"/>
            <a:ext cx="3370854" cy="5257800"/>
          </a:xfrm>
          <a:prstGeom prst="rect">
            <a:avLst/>
          </a:prstGeom>
        </p:spPr>
      </p:pic>
      <p:sp>
        <p:nvSpPr>
          <p:cNvPr id="6" name="Shape 3"/>
          <p:cNvSpPr/>
          <p:nvPr/>
        </p:nvSpPr>
        <p:spPr>
          <a:xfrm>
            <a:off x="6080760" y="1234440"/>
            <a:ext cx="5486400" cy="2834640"/>
          </a:xfrm>
          <a:prstGeom prst="roundRect">
            <a:avLst>
              <a:gd name="adj" fmla="val 2581"/>
            </a:avLst>
          </a:prstGeom>
          <a:solidFill>
            <a:srgbClr val="F8FAFC"/>
          </a:solidFill>
          <a:ln w="12700">
            <a:solidFill>
              <a:srgbClr val="D7DEE8"/>
            </a:solidFill>
            <a:prstDash val="solid"/>
          </a:ln>
        </p:spPr>
      </p:sp>
      <p:sp>
        <p:nvSpPr>
          <p:cNvPr id="7" name="Text 4"/>
          <p:cNvSpPr/>
          <p:nvPr/>
        </p:nvSpPr>
        <p:spPr>
          <a:xfrm>
            <a:off x="6245352" y="1380744"/>
            <a:ext cx="5157216" cy="256032"/>
          </a:xfrm>
          <a:prstGeom prst="rect">
            <a:avLst/>
          </a:prstGeom>
          <a:noFill/>
          <a:ln/>
        </p:spPr>
        <p:txBody>
          <a:bodyPr wrap="square" lIns="0" tIns="0" rIns="0" bIns="0" rtlCol="0" anchor="ctr"/>
          <a:lstStyle/>
          <a:p>
            <a:pPr indent="0" marL="0">
              <a:buNone/>
            </a:pPr>
            <a:r>
              <a:rPr lang="en-US" sz="1400" b="1" dirty="0">
                <a:solidFill>
                  <a:srgbClr val="0B1F3A"/>
                </a:solidFill>
              </a:rPr>
              <a:t>What this flow demonstrates</a:t>
            </a:r>
            <a:endParaRPr lang="en-US" sz="1400" dirty="0"/>
          </a:p>
        </p:txBody>
      </p:sp>
      <p:sp>
        <p:nvSpPr>
          <p:cNvPr id="8" name="Text 5"/>
          <p:cNvSpPr/>
          <p:nvPr/>
        </p:nvSpPr>
        <p:spPr>
          <a:xfrm>
            <a:off x="6245352" y="1709928"/>
            <a:ext cx="5157216" cy="2267712"/>
          </a:xfrm>
          <a:prstGeom prst="rect">
            <a:avLst/>
          </a:prstGeom>
          <a:noFill/>
          <a:ln/>
        </p:spPr>
        <p:txBody>
          <a:bodyPr wrap="square" lIns="0" tIns="0" rIns="0" bIns="0" rtlCol="0" anchor="ctr">
            <a:normAutofit/>
          </a:bodyPr>
          <a:lstStyle/>
          <a:p>
            <a:pPr indent="0" marL="0">
              <a:buNone/>
            </a:pPr>
            <a:r>
              <a:rPr lang="en-US" sz="1150" dirty="0">
                <a:solidFill>
                  <a:srgbClr val="4B5563"/>
                </a:solidFill>
              </a:rPr>
              <a:t>• Forms trigger and response capture</a:t>
            </a:r>
            <a:endParaRPr lang="en-US" sz="1150" dirty="0"/>
          </a:p>
          <a:p>
            <a:pPr indent="0" marL="0">
              <a:buNone/>
            </a:pPr>
            <a:r>
              <a:rPr lang="en-US" sz="1150" dirty="0">
                <a:solidFill>
                  <a:srgbClr val="4B5563"/>
                </a:solidFill>
              </a:rPr>
              <a:t>• SharePoint record and folder creation</a:t>
            </a:r>
            <a:endParaRPr lang="en-US" sz="1150" dirty="0"/>
          </a:p>
          <a:p>
            <a:pPr indent="0" marL="0">
              <a:buNone/>
            </a:pPr>
            <a:r>
              <a:rPr lang="en-US" sz="1150" dirty="0">
                <a:solidFill>
                  <a:srgbClr val="4B5563"/>
                </a:solidFill>
              </a:rPr>
              <a:t>• Required document validation</a:t>
            </a:r>
            <a:endParaRPr lang="en-US" sz="1150" dirty="0"/>
          </a:p>
          <a:p>
            <a:pPr indent="0" marL="0">
              <a:buNone/>
            </a:pPr>
            <a:r>
              <a:rPr lang="en-US" sz="1150" dirty="0">
                <a:solidFill>
                  <a:srgbClr val="4B5563"/>
                </a:solidFill>
              </a:rPr>
              <a:t>• Academic review routing</a:t>
            </a:r>
            <a:endParaRPr lang="en-US" sz="1150" dirty="0"/>
          </a:p>
          <a:p>
            <a:pPr indent="0" marL="0">
              <a:buNone/>
            </a:pPr>
            <a:r>
              <a:rPr lang="en-US" sz="1150" dirty="0">
                <a:solidFill>
                  <a:srgbClr val="4B5563"/>
                </a:solidFill>
              </a:rPr>
              <a:t>• Offer / rejection / missing document branches</a:t>
            </a:r>
            <a:endParaRPr lang="en-US" sz="1150" dirty="0"/>
          </a:p>
          <a:p>
            <a:pPr indent="0" marL="0">
              <a:buNone/>
            </a:pPr>
            <a:r>
              <a:rPr lang="en-US" sz="1150" dirty="0">
                <a:solidFill>
                  <a:srgbClr val="4B5563"/>
                </a:solidFill>
              </a:rPr>
              <a:t>• Automatic status updates</a:t>
            </a:r>
            <a:endParaRPr lang="en-US" sz="1150" dirty="0"/>
          </a:p>
        </p:txBody>
      </p:sp>
      <p:sp>
        <p:nvSpPr>
          <p:cNvPr id="9" name="Shape 6"/>
          <p:cNvSpPr/>
          <p:nvPr/>
        </p:nvSpPr>
        <p:spPr>
          <a:xfrm>
            <a:off x="6080760" y="4343400"/>
            <a:ext cx="5486400" cy="868680"/>
          </a:xfrm>
          <a:prstGeom prst="roundRect">
            <a:avLst>
              <a:gd name="adj" fmla="val 8421"/>
            </a:avLst>
          </a:prstGeom>
          <a:solidFill>
            <a:srgbClr val="EEF6FF"/>
          </a:solidFill>
          <a:ln w="12700">
            <a:solidFill>
              <a:srgbClr val="D7DEE8"/>
            </a:solidFill>
            <a:prstDash val="solid"/>
          </a:ln>
        </p:spPr>
      </p:sp>
      <p:sp>
        <p:nvSpPr>
          <p:cNvPr id="10" name="Text 7"/>
          <p:cNvSpPr/>
          <p:nvPr/>
        </p:nvSpPr>
        <p:spPr>
          <a:xfrm>
            <a:off x="6245352" y="4489704"/>
            <a:ext cx="5157216" cy="256032"/>
          </a:xfrm>
          <a:prstGeom prst="rect">
            <a:avLst/>
          </a:prstGeom>
          <a:noFill/>
          <a:ln/>
        </p:spPr>
        <p:txBody>
          <a:bodyPr wrap="square" lIns="0" tIns="0" rIns="0" bIns="0" rtlCol="0" anchor="ctr"/>
          <a:lstStyle/>
          <a:p>
            <a:pPr indent="0" marL="0">
              <a:buNone/>
            </a:pPr>
            <a:r>
              <a:rPr lang="en-US" sz="1400" b="1" dirty="0">
                <a:solidFill>
                  <a:srgbClr val="0B1F3A"/>
                </a:solidFill>
              </a:rPr>
              <a:t>Reasoning</a:t>
            </a:r>
            <a:endParaRPr lang="en-US" sz="1400" dirty="0"/>
          </a:p>
        </p:txBody>
      </p:sp>
      <p:sp>
        <p:nvSpPr>
          <p:cNvPr id="11" name="Text 8"/>
          <p:cNvSpPr/>
          <p:nvPr/>
        </p:nvSpPr>
        <p:spPr>
          <a:xfrm>
            <a:off x="6245352" y="4818888"/>
            <a:ext cx="5157216" cy="301752"/>
          </a:xfrm>
          <a:prstGeom prst="rect">
            <a:avLst/>
          </a:prstGeom>
          <a:noFill/>
          <a:ln/>
        </p:spPr>
        <p:txBody>
          <a:bodyPr wrap="square" lIns="0" tIns="0" rIns="0" bIns="0" rtlCol="0" anchor="ctr">
            <a:normAutofit/>
          </a:bodyPr>
          <a:lstStyle/>
          <a:p>
            <a:pPr indent="0" marL="0">
              <a:buNone/>
            </a:pPr>
            <a:r>
              <a:rPr lang="en-US" sz="1150" dirty="0">
                <a:solidFill>
                  <a:srgbClr val="4B5563"/>
                </a:solidFill>
              </a:rPr>
              <a:t>The flow removes manual inbox handling and creates a single source of truth for admissions staff.</a:t>
            </a:r>
            <a:endParaRPr lang="en-US" sz="1150" dirty="0"/>
          </a:p>
        </p:txBody>
      </p:sp>
      <p:sp>
        <p:nvSpPr>
          <p:cNvPr id="12" name="Text 9"/>
          <p:cNvSpPr/>
          <p:nvPr/>
        </p:nvSpPr>
        <p:spPr>
          <a:xfrm>
            <a:off x="502920" y="6565392"/>
            <a:ext cx="6858000" cy="182880"/>
          </a:xfrm>
          <a:prstGeom prst="rect">
            <a:avLst/>
          </a:prstGeom>
          <a:noFill/>
          <a:ln/>
        </p:spPr>
        <p:txBody>
          <a:bodyPr wrap="square" lIns="0" tIns="0" rIns="0" bIns="0" rtlCol="0" anchor="ctr"/>
          <a:lstStyle/>
          <a:p>
            <a:pPr indent="0" marL="0">
              <a:buNone/>
            </a:pPr>
            <a:r>
              <a:rPr lang="en-US" sz="750" dirty="0">
                <a:solidFill>
                  <a:srgbClr val="6B7280"/>
                </a:solidFill>
              </a:rPr>
              <a:t>Admissions Process Automation | Microsoft Power Platform</a:t>
            </a:r>
            <a:endParaRPr lang="en-US" sz="750" dirty="0"/>
          </a:p>
        </p:txBody>
      </p:sp>
      <p:sp>
        <p:nvSpPr>
          <p:cNvPr id="13" name="Text 10"/>
          <p:cNvSpPr/>
          <p:nvPr/>
        </p:nvSpPr>
        <p:spPr>
          <a:xfrm>
            <a:off x="11384280" y="6565392"/>
            <a:ext cx="365760" cy="182880"/>
          </a:xfrm>
          <a:prstGeom prst="rect">
            <a:avLst/>
          </a:prstGeom>
          <a:noFill/>
          <a:ln/>
        </p:spPr>
        <p:txBody>
          <a:bodyPr wrap="square" lIns="0" tIns="0" rIns="0" bIns="0" rtlCol="0" anchor="ctr"/>
          <a:lstStyle/>
          <a:p>
            <a:pPr algn="r" indent="0" marL="0">
              <a:buNone/>
            </a:pPr>
            <a:r>
              <a:rPr lang="en-US" sz="750" dirty="0">
                <a:solidFill>
                  <a:srgbClr val="6B7280"/>
                </a:solidFill>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347472"/>
          </a:xfrm>
          <a:prstGeom prst="rect">
            <a:avLst/>
          </a:prstGeom>
          <a:noFill/>
          <a:ln/>
        </p:spPr>
        <p:txBody>
          <a:bodyPr wrap="square" lIns="0" tIns="0" rIns="0" bIns="0" rtlCol="0" anchor="ctr"/>
          <a:lstStyle/>
          <a:p>
            <a:pPr indent="0" marL="0">
              <a:buNone/>
            </a:pPr>
            <a:r>
              <a:rPr lang="en-US" sz="2500" b="1" dirty="0">
                <a:solidFill>
                  <a:srgbClr val="0B1F3A"/>
                </a:solidFill>
                <a:latin typeface="Aptos Display" pitchFamily="34" charset="0"/>
                <a:ea typeface="Aptos Display" pitchFamily="34" charset="-122"/>
                <a:cs typeface="Aptos Display" pitchFamily="34" charset="-120"/>
              </a:rPr>
              <a:t>Academic Review Approval Workflow</a:t>
            </a:r>
            <a:endParaRPr lang="en-US" sz="2500" dirty="0"/>
          </a:p>
        </p:txBody>
      </p:sp>
      <p:sp>
        <p:nvSpPr>
          <p:cNvPr id="3" name="Shape 1"/>
          <p:cNvSpPr/>
          <p:nvPr/>
        </p:nvSpPr>
        <p:spPr>
          <a:xfrm>
            <a:off x="502920" y="713232"/>
            <a:ext cx="914400" cy="0"/>
          </a:xfrm>
          <a:prstGeom prst="line">
            <a:avLst/>
          </a:prstGeom>
          <a:noFill/>
          <a:ln w="27940">
            <a:solidFill>
              <a:srgbClr val="006E9C"/>
            </a:solidFill>
            <a:prstDash val="solid"/>
          </a:ln>
        </p:spPr>
      </p:sp>
      <p:sp>
        <p:nvSpPr>
          <p:cNvPr id="4" name="Text 2"/>
          <p:cNvSpPr/>
          <p:nvPr/>
        </p:nvSpPr>
        <p:spPr>
          <a:xfrm>
            <a:off x="1600200" y="786384"/>
            <a:ext cx="9601200" cy="182880"/>
          </a:xfrm>
          <a:prstGeom prst="rect">
            <a:avLst/>
          </a:prstGeom>
          <a:noFill/>
          <a:ln/>
        </p:spPr>
        <p:txBody>
          <a:bodyPr wrap="square" lIns="0" tIns="0" rIns="0" bIns="0" rtlCol="0" anchor="ctr"/>
          <a:lstStyle/>
          <a:p>
            <a:pPr indent="0" marL="0">
              <a:buNone/>
            </a:pPr>
            <a:r>
              <a:rPr lang="en-US" sz="1020" dirty="0">
                <a:solidFill>
                  <a:srgbClr val="4B5563"/>
                </a:solidFill>
              </a:rPr>
              <a:t>Internal reviewer decision before applicant outcome is sent</a:t>
            </a:r>
            <a:endParaRPr lang="en-US" sz="1020" dirty="0"/>
          </a:p>
        </p:txBody>
      </p:sp>
      <p:pic>
        <p:nvPicPr>
          <p:cNvPr id="5" name="Image 0" descr="/mnt/data/extracted_imgs/slide5_Picture_3.png">    </p:cNvPr>
          <p:cNvPicPr>
            <a:picLocks noChangeAspect="1"/>
          </p:cNvPicPr>
          <p:nvPr/>
        </p:nvPicPr>
        <p:blipFill>
          <a:blip r:embed="rId1"/>
          <a:stretch>
            <a:fillRect/>
          </a:stretch>
        </p:blipFill>
        <p:spPr>
          <a:xfrm>
            <a:off x="1209333" y="1051560"/>
            <a:ext cx="9742853" cy="4251960"/>
          </a:xfrm>
          <a:prstGeom prst="rect">
            <a:avLst/>
          </a:prstGeom>
        </p:spPr>
      </p:pic>
      <p:sp>
        <p:nvSpPr>
          <p:cNvPr id="6" name="Shape 3"/>
          <p:cNvSpPr/>
          <p:nvPr/>
        </p:nvSpPr>
        <p:spPr>
          <a:xfrm>
            <a:off x="594360" y="5532120"/>
            <a:ext cx="10972800" cy="685800"/>
          </a:xfrm>
          <a:prstGeom prst="roundRect">
            <a:avLst>
              <a:gd name="adj" fmla="val 10667"/>
            </a:avLst>
          </a:prstGeom>
          <a:solidFill>
            <a:srgbClr val="F8FAFC"/>
          </a:solidFill>
          <a:ln w="12700">
            <a:solidFill>
              <a:srgbClr val="D7DEE8"/>
            </a:solidFill>
            <a:prstDash val="solid"/>
          </a:ln>
        </p:spPr>
      </p:sp>
      <p:sp>
        <p:nvSpPr>
          <p:cNvPr id="7" name="Text 4"/>
          <p:cNvSpPr/>
          <p:nvPr/>
        </p:nvSpPr>
        <p:spPr>
          <a:xfrm>
            <a:off x="822960" y="5724144"/>
            <a:ext cx="10515600" cy="228600"/>
          </a:xfrm>
          <a:prstGeom prst="rect">
            <a:avLst/>
          </a:prstGeom>
          <a:noFill/>
          <a:ln/>
        </p:spPr>
        <p:txBody>
          <a:bodyPr wrap="square" lIns="0" tIns="0" rIns="0" bIns="0" rtlCol="0" anchor="ctr"/>
          <a:lstStyle/>
          <a:p>
            <a:pPr indent="0" marL="0">
              <a:buNone/>
            </a:pPr>
            <a:r>
              <a:rPr lang="en-US" sz="1300" b="1" dirty="0">
                <a:solidFill>
                  <a:srgbClr val="0B1F3A"/>
                </a:solidFill>
              </a:rPr>
              <a:t>Key point: applicant communications are separate from internal approvals — decisions are controlled through a reviewer mailbox.</a:t>
            </a:r>
            <a:endParaRPr lang="en-US" sz="1300" dirty="0"/>
          </a:p>
        </p:txBody>
      </p:sp>
      <p:sp>
        <p:nvSpPr>
          <p:cNvPr id="8" name="Text 5"/>
          <p:cNvSpPr/>
          <p:nvPr/>
        </p:nvSpPr>
        <p:spPr>
          <a:xfrm>
            <a:off x="502920" y="6565392"/>
            <a:ext cx="6858000" cy="182880"/>
          </a:xfrm>
          <a:prstGeom prst="rect">
            <a:avLst/>
          </a:prstGeom>
          <a:noFill/>
          <a:ln/>
        </p:spPr>
        <p:txBody>
          <a:bodyPr wrap="square" lIns="0" tIns="0" rIns="0" bIns="0" rtlCol="0" anchor="ctr"/>
          <a:lstStyle/>
          <a:p>
            <a:pPr indent="0" marL="0">
              <a:buNone/>
            </a:pPr>
            <a:r>
              <a:rPr lang="en-US" sz="750" dirty="0">
                <a:solidFill>
                  <a:srgbClr val="6B7280"/>
                </a:solidFill>
              </a:rPr>
              <a:t>Admissions Process Automation | Microsoft Power Platform</a:t>
            </a:r>
            <a:endParaRPr lang="en-US" sz="750" dirty="0"/>
          </a:p>
        </p:txBody>
      </p:sp>
      <p:sp>
        <p:nvSpPr>
          <p:cNvPr id="9" name="Text 6"/>
          <p:cNvSpPr/>
          <p:nvPr/>
        </p:nvSpPr>
        <p:spPr>
          <a:xfrm>
            <a:off x="11384280" y="6565392"/>
            <a:ext cx="365760" cy="182880"/>
          </a:xfrm>
          <a:prstGeom prst="rect">
            <a:avLst/>
          </a:prstGeom>
          <a:noFill/>
          <a:ln/>
        </p:spPr>
        <p:txBody>
          <a:bodyPr wrap="square" lIns="0" tIns="0" rIns="0" bIns="0" rtlCol="0" anchor="ctr"/>
          <a:lstStyle/>
          <a:p>
            <a:pPr algn="r" indent="0" marL="0">
              <a:buNone/>
            </a:pPr>
            <a:r>
              <a:rPr lang="en-US" sz="750" dirty="0">
                <a:solidFill>
                  <a:srgbClr val="6B7280"/>
                </a:solidFill>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347472"/>
          </a:xfrm>
          <a:prstGeom prst="rect">
            <a:avLst/>
          </a:prstGeom>
          <a:noFill/>
          <a:ln/>
        </p:spPr>
        <p:txBody>
          <a:bodyPr wrap="square" lIns="0" tIns="0" rIns="0" bIns="0" rtlCol="0" anchor="ctr"/>
          <a:lstStyle/>
          <a:p>
            <a:pPr indent="0" marL="0">
              <a:buNone/>
            </a:pPr>
            <a:r>
              <a:rPr lang="en-US" sz="2500" b="1" dirty="0">
                <a:solidFill>
                  <a:srgbClr val="0B1F3A"/>
                </a:solidFill>
                <a:latin typeface="Aptos Display" pitchFamily="34" charset="0"/>
                <a:ea typeface="Aptos Display" pitchFamily="34" charset="-122"/>
                <a:cs typeface="Aptos Display" pitchFamily="34" charset="-120"/>
              </a:rPr>
              <a:t>Applicant Communications</a:t>
            </a:r>
            <a:endParaRPr lang="en-US" sz="2500" dirty="0"/>
          </a:p>
        </p:txBody>
      </p:sp>
      <p:sp>
        <p:nvSpPr>
          <p:cNvPr id="3" name="Shape 1"/>
          <p:cNvSpPr/>
          <p:nvPr/>
        </p:nvSpPr>
        <p:spPr>
          <a:xfrm>
            <a:off x="502920" y="713232"/>
            <a:ext cx="914400" cy="0"/>
          </a:xfrm>
          <a:prstGeom prst="line">
            <a:avLst/>
          </a:prstGeom>
          <a:noFill/>
          <a:ln w="27940">
            <a:solidFill>
              <a:srgbClr val="006E9C"/>
            </a:solidFill>
            <a:prstDash val="solid"/>
          </a:ln>
        </p:spPr>
      </p:sp>
      <p:sp>
        <p:nvSpPr>
          <p:cNvPr id="4" name="Text 2"/>
          <p:cNvSpPr/>
          <p:nvPr/>
        </p:nvSpPr>
        <p:spPr>
          <a:xfrm>
            <a:off x="1600200" y="786384"/>
            <a:ext cx="9601200" cy="182880"/>
          </a:xfrm>
          <a:prstGeom prst="rect">
            <a:avLst/>
          </a:prstGeom>
          <a:noFill/>
          <a:ln/>
        </p:spPr>
        <p:txBody>
          <a:bodyPr wrap="square" lIns="0" tIns="0" rIns="0" bIns="0" rtlCol="0" anchor="ctr"/>
          <a:lstStyle/>
          <a:p>
            <a:pPr indent="0" marL="0">
              <a:buNone/>
            </a:pPr>
            <a:r>
              <a:rPr lang="en-US" sz="1020" dirty="0">
                <a:solidFill>
                  <a:srgbClr val="4B5563"/>
                </a:solidFill>
              </a:rPr>
              <a:t>Standardised messages based on workflow outcome</a:t>
            </a:r>
            <a:endParaRPr lang="en-US" sz="1020" dirty="0"/>
          </a:p>
        </p:txBody>
      </p:sp>
      <p:sp>
        <p:nvSpPr>
          <p:cNvPr id="5" name="Shape 3"/>
          <p:cNvSpPr/>
          <p:nvPr/>
        </p:nvSpPr>
        <p:spPr>
          <a:xfrm>
            <a:off x="594360" y="1051560"/>
            <a:ext cx="10972800" cy="1417320"/>
          </a:xfrm>
          <a:prstGeom prst="roundRect">
            <a:avLst>
              <a:gd name="adj" fmla="val 5161"/>
            </a:avLst>
          </a:prstGeom>
          <a:solidFill>
            <a:srgbClr val="FFFFFF"/>
          </a:solidFill>
          <a:ln w="12700">
            <a:solidFill>
              <a:srgbClr val="D7DEE8"/>
            </a:solidFill>
            <a:prstDash val="solid"/>
          </a:ln>
        </p:spPr>
      </p:sp>
      <p:sp>
        <p:nvSpPr>
          <p:cNvPr id="6" name="Shape 4"/>
          <p:cNvSpPr/>
          <p:nvPr/>
        </p:nvSpPr>
        <p:spPr>
          <a:xfrm>
            <a:off x="777240" y="1216152"/>
            <a:ext cx="2057400" cy="384048"/>
          </a:xfrm>
          <a:prstGeom prst="roundRect">
            <a:avLst>
              <a:gd name="adj" fmla="val 14286"/>
            </a:avLst>
          </a:prstGeom>
          <a:solidFill>
            <a:srgbClr val="FFF7ED"/>
          </a:solidFill>
          <a:ln w="12700">
            <a:solidFill>
              <a:srgbClr val="FFF7ED"/>
            </a:solidFill>
            <a:prstDash val="solid"/>
          </a:ln>
        </p:spPr>
      </p:sp>
      <p:sp>
        <p:nvSpPr>
          <p:cNvPr id="7" name="Text 5"/>
          <p:cNvSpPr/>
          <p:nvPr/>
        </p:nvSpPr>
        <p:spPr>
          <a:xfrm>
            <a:off x="896112" y="1307592"/>
            <a:ext cx="1828800" cy="164592"/>
          </a:xfrm>
          <a:prstGeom prst="rect">
            <a:avLst/>
          </a:prstGeom>
          <a:noFill/>
          <a:ln/>
        </p:spPr>
        <p:txBody>
          <a:bodyPr wrap="square" lIns="0" tIns="0" rIns="0" bIns="0" rtlCol="0" anchor="ctr">
            <a:normAutofit/>
          </a:bodyPr>
          <a:lstStyle/>
          <a:p>
            <a:pPr indent="0" marL="0">
              <a:buNone/>
            </a:pPr>
            <a:r>
              <a:rPr lang="en-US" sz="950" b="1" dirty="0">
                <a:solidFill>
                  <a:srgbClr val="0B1F3A"/>
                </a:solidFill>
              </a:rPr>
              <a:t>Missing Documents Request</a:t>
            </a:r>
            <a:endParaRPr lang="en-US" sz="950" dirty="0"/>
          </a:p>
        </p:txBody>
      </p:sp>
      <p:pic>
        <p:nvPicPr>
          <p:cNvPr id="8" name="Image 0" descr="/mnt/data/extracted_imgs/slide6_Picture_12.png">    </p:cNvPr>
          <p:cNvPicPr>
            <a:picLocks noChangeAspect="1"/>
          </p:cNvPicPr>
          <p:nvPr/>
        </p:nvPicPr>
        <p:blipFill>
          <a:blip r:embed="rId1"/>
          <a:stretch>
            <a:fillRect/>
          </a:stretch>
        </p:blipFill>
        <p:spPr>
          <a:xfrm>
            <a:off x="4384390" y="1143000"/>
            <a:ext cx="5495859" cy="1234440"/>
          </a:xfrm>
          <a:prstGeom prst="rect">
            <a:avLst/>
          </a:prstGeom>
        </p:spPr>
      </p:pic>
      <p:sp>
        <p:nvSpPr>
          <p:cNvPr id="9" name="Shape 6"/>
          <p:cNvSpPr/>
          <p:nvPr/>
        </p:nvSpPr>
        <p:spPr>
          <a:xfrm>
            <a:off x="594360" y="2743200"/>
            <a:ext cx="10972800" cy="1417320"/>
          </a:xfrm>
          <a:prstGeom prst="roundRect">
            <a:avLst>
              <a:gd name="adj" fmla="val 5161"/>
            </a:avLst>
          </a:prstGeom>
          <a:solidFill>
            <a:srgbClr val="FFFFFF"/>
          </a:solidFill>
          <a:ln w="12700">
            <a:solidFill>
              <a:srgbClr val="D7DEE8"/>
            </a:solidFill>
            <a:prstDash val="solid"/>
          </a:ln>
        </p:spPr>
      </p:sp>
      <p:sp>
        <p:nvSpPr>
          <p:cNvPr id="10" name="Shape 7"/>
          <p:cNvSpPr/>
          <p:nvPr/>
        </p:nvSpPr>
        <p:spPr>
          <a:xfrm>
            <a:off x="777240" y="2907792"/>
            <a:ext cx="2057400" cy="384048"/>
          </a:xfrm>
          <a:prstGeom prst="roundRect">
            <a:avLst>
              <a:gd name="adj" fmla="val 14286"/>
            </a:avLst>
          </a:prstGeom>
          <a:solidFill>
            <a:srgbClr val="E8F5E9"/>
          </a:solidFill>
          <a:ln w="12700">
            <a:solidFill>
              <a:srgbClr val="E8F5E9"/>
            </a:solidFill>
            <a:prstDash val="solid"/>
          </a:ln>
        </p:spPr>
      </p:sp>
      <p:sp>
        <p:nvSpPr>
          <p:cNvPr id="11" name="Text 8"/>
          <p:cNvSpPr/>
          <p:nvPr/>
        </p:nvSpPr>
        <p:spPr>
          <a:xfrm>
            <a:off x="896112" y="2999232"/>
            <a:ext cx="1828800" cy="164592"/>
          </a:xfrm>
          <a:prstGeom prst="rect">
            <a:avLst/>
          </a:prstGeom>
          <a:noFill/>
          <a:ln/>
        </p:spPr>
        <p:txBody>
          <a:bodyPr wrap="square" lIns="0" tIns="0" rIns="0" bIns="0" rtlCol="0" anchor="ctr">
            <a:normAutofit/>
          </a:bodyPr>
          <a:lstStyle/>
          <a:p>
            <a:pPr indent="0" marL="0">
              <a:buNone/>
            </a:pPr>
            <a:r>
              <a:rPr lang="en-US" sz="950" b="1" dirty="0">
                <a:solidFill>
                  <a:srgbClr val="0B1F3A"/>
                </a:solidFill>
              </a:rPr>
              <a:t>Application Successful</a:t>
            </a:r>
            <a:endParaRPr lang="en-US" sz="950" dirty="0"/>
          </a:p>
        </p:txBody>
      </p:sp>
      <p:pic>
        <p:nvPicPr>
          <p:cNvPr id="12" name="Image 1" descr="/mnt/data/extracted_imgs/slide6_Picture_18.png">    </p:cNvPr>
          <p:cNvPicPr>
            <a:picLocks noChangeAspect="1"/>
          </p:cNvPicPr>
          <p:nvPr/>
        </p:nvPicPr>
        <p:blipFill>
          <a:blip r:embed="rId2"/>
          <a:stretch>
            <a:fillRect/>
          </a:stretch>
        </p:blipFill>
        <p:spPr>
          <a:xfrm>
            <a:off x="3641834" y="2834640"/>
            <a:ext cx="6980971" cy="1234440"/>
          </a:xfrm>
          <a:prstGeom prst="rect">
            <a:avLst/>
          </a:prstGeom>
        </p:spPr>
      </p:pic>
      <p:sp>
        <p:nvSpPr>
          <p:cNvPr id="13" name="Shape 9"/>
          <p:cNvSpPr/>
          <p:nvPr/>
        </p:nvSpPr>
        <p:spPr>
          <a:xfrm>
            <a:off x="594360" y="4434840"/>
            <a:ext cx="10972800" cy="1417320"/>
          </a:xfrm>
          <a:prstGeom prst="roundRect">
            <a:avLst>
              <a:gd name="adj" fmla="val 5161"/>
            </a:avLst>
          </a:prstGeom>
          <a:solidFill>
            <a:srgbClr val="FFFFFF"/>
          </a:solidFill>
          <a:ln w="12700">
            <a:solidFill>
              <a:srgbClr val="D7DEE8"/>
            </a:solidFill>
            <a:prstDash val="solid"/>
          </a:ln>
        </p:spPr>
      </p:sp>
      <p:sp>
        <p:nvSpPr>
          <p:cNvPr id="14" name="Shape 10"/>
          <p:cNvSpPr/>
          <p:nvPr/>
        </p:nvSpPr>
        <p:spPr>
          <a:xfrm>
            <a:off x="777240" y="4599432"/>
            <a:ext cx="2057400" cy="384048"/>
          </a:xfrm>
          <a:prstGeom prst="roundRect">
            <a:avLst>
              <a:gd name="adj" fmla="val 14286"/>
            </a:avLst>
          </a:prstGeom>
          <a:solidFill>
            <a:srgbClr val="FDECEC"/>
          </a:solidFill>
          <a:ln w="12700">
            <a:solidFill>
              <a:srgbClr val="FDECEC"/>
            </a:solidFill>
            <a:prstDash val="solid"/>
          </a:ln>
        </p:spPr>
      </p:sp>
      <p:sp>
        <p:nvSpPr>
          <p:cNvPr id="15" name="Text 11"/>
          <p:cNvSpPr/>
          <p:nvPr/>
        </p:nvSpPr>
        <p:spPr>
          <a:xfrm>
            <a:off x="896112" y="4690872"/>
            <a:ext cx="1828800" cy="164592"/>
          </a:xfrm>
          <a:prstGeom prst="rect">
            <a:avLst/>
          </a:prstGeom>
          <a:noFill/>
          <a:ln/>
        </p:spPr>
        <p:txBody>
          <a:bodyPr wrap="square" lIns="0" tIns="0" rIns="0" bIns="0" rtlCol="0" anchor="ctr">
            <a:normAutofit/>
          </a:bodyPr>
          <a:lstStyle/>
          <a:p>
            <a:pPr indent="0" marL="0">
              <a:buNone/>
            </a:pPr>
            <a:r>
              <a:rPr lang="en-US" sz="950" b="1" dirty="0">
                <a:solidFill>
                  <a:srgbClr val="0B1F3A"/>
                </a:solidFill>
              </a:rPr>
              <a:t>Application Rejected</a:t>
            </a:r>
            <a:endParaRPr lang="en-US" sz="950" dirty="0"/>
          </a:p>
        </p:txBody>
      </p:sp>
      <p:pic>
        <p:nvPicPr>
          <p:cNvPr id="16" name="Image 2" descr="/mnt/data/extracted_imgs/slide6_Picture_14.png">    </p:cNvPr>
          <p:cNvPicPr>
            <a:picLocks noChangeAspect="1"/>
          </p:cNvPicPr>
          <p:nvPr/>
        </p:nvPicPr>
        <p:blipFill>
          <a:blip r:embed="rId3"/>
          <a:stretch>
            <a:fillRect/>
          </a:stretch>
        </p:blipFill>
        <p:spPr>
          <a:xfrm>
            <a:off x="4259396" y="4526280"/>
            <a:ext cx="5745847" cy="1234440"/>
          </a:xfrm>
          <a:prstGeom prst="rect">
            <a:avLst/>
          </a:prstGeom>
        </p:spPr>
      </p:pic>
      <p:sp>
        <p:nvSpPr>
          <p:cNvPr id="17" name="Text 12"/>
          <p:cNvSpPr/>
          <p:nvPr/>
        </p:nvSpPr>
        <p:spPr>
          <a:xfrm>
            <a:off x="502920" y="6565392"/>
            <a:ext cx="6858000" cy="182880"/>
          </a:xfrm>
          <a:prstGeom prst="rect">
            <a:avLst/>
          </a:prstGeom>
          <a:noFill/>
          <a:ln/>
        </p:spPr>
        <p:txBody>
          <a:bodyPr wrap="square" lIns="0" tIns="0" rIns="0" bIns="0" rtlCol="0" anchor="ctr"/>
          <a:lstStyle/>
          <a:p>
            <a:pPr indent="0" marL="0">
              <a:buNone/>
            </a:pPr>
            <a:r>
              <a:rPr lang="en-US" sz="750" dirty="0">
                <a:solidFill>
                  <a:srgbClr val="6B7280"/>
                </a:solidFill>
              </a:rPr>
              <a:t>Admissions Process Automation | Microsoft Power Platform</a:t>
            </a:r>
            <a:endParaRPr lang="en-US" sz="750" dirty="0"/>
          </a:p>
        </p:txBody>
      </p:sp>
      <p:sp>
        <p:nvSpPr>
          <p:cNvPr id="18" name="Text 13"/>
          <p:cNvSpPr/>
          <p:nvPr/>
        </p:nvSpPr>
        <p:spPr>
          <a:xfrm>
            <a:off x="11384280" y="6565392"/>
            <a:ext cx="365760" cy="182880"/>
          </a:xfrm>
          <a:prstGeom prst="rect">
            <a:avLst/>
          </a:prstGeom>
          <a:noFill/>
          <a:ln/>
        </p:spPr>
        <p:txBody>
          <a:bodyPr wrap="square" lIns="0" tIns="0" rIns="0" bIns="0" rtlCol="0" anchor="ctr"/>
          <a:lstStyle/>
          <a:p>
            <a:pPr algn="r" indent="0" marL="0">
              <a:buNone/>
            </a:pPr>
            <a:r>
              <a:rPr lang="en-US" sz="750" dirty="0">
                <a:solidFill>
                  <a:srgbClr val="6B7280"/>
                </a:solidFill>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347472"/>
          </a:xfrm>
          <a:prstGeom prst="rect">
            <a:avLst/>
          </a:prstGeom>
          <a:noFill/>
          <a:ln/>
        </p:spPr>
        <p:txBody>
          <a:bodyPr wrap="square" lIns="0" tIns="0" rIns="0" bIns="0" rtlCol="0" anchor="ctr"/>
          <a:lstStyle/>
          <a:p>
            <a:pPr indent="0" marL="0">
              <a:buNone/>
            </a:pPr>
            <a:r>
              <a:rPr lang="en-US" sz="2500" b="1" dirty="0">
                <a:solidFill>
                  <a:srgbClr val="0B1F3A"/>
                </a:solidFill>
                <a:latin typeface="Aptos Display" pitchFamily="34" charset="0"/>
                <a:ea typeface="Aptos Display" pitchFamily="34" charset="-122"/>
                <a:cs typeface="Aptos Display" pitchFamily="34" charset="-120"/>
              </a:rPr>
              <a:t>Application Tracking &amp; Case Management</a:t>
            </a:r>
            <a:endParaRPr lang="en-US" sz="2500" dirty="0"/>
          </a:p>
        </p:txBody>
      </p:sp>
      <p:sp>
        <p:nvSpPr>
          <p:cNvPr id="3" name="Shape 1"/>
          <p:cNvSpPr/>
          <p:nvPr/>
        </p:nvSpPr>
        <p:spPr>
          <a:xfrm>
            <a:off x="502920" y="713232"/>
            <a:ext cx="914400" cy="0"/>
          </a:xfrm>
          <a:prstGeom prst="line">
            <a:avLst/>
          </a:prstGeom>
          <a:noFill/>
          <a:ln w="27940">
            <a:solidFill>
              <a:srgbClr val="006E9C"/>
            </a:solidFill>
            <a:prstDash val="solid"/>
          </a:ln>
        </p:spPr>
      </p:sp>
      <p:sp>
        <p:nvSpPr>
          <p:cNvPr id="4" name="Text 2"/>
          <p:cNvSpPr/>
          <p:nvPr/>
        </p:nvSpPr>
        <p:spPr>
          <a:xfrm>
            <a:off x="1600200" y="786384"/>
            <a:ext cx="9601200" cy="182880"/>
          </a:xfrm>
          <a:prstGeom prst="rect">
            <a:avLst/>
          </a:prstGeom>
          <a:noFill/>
          <a:ln/>
        </p:spPr>
        <p:txBody>
          <a:bodyPr wrap="square" lIns="0" tIns="0" rIns="0" bIns="0" rtlCol="0" anchor="ctr"/>
          <a:lstStyle/>
          <a:p>
            <a:pPr indent="0" marL="0">
              <a:buNone/>
            </a:pPr>
            <a:r>
              <a:rPr lang="en-US" sz="1020" dirty="0">
                <a:solidFill>
                  <a:srgbClr val="4B5563"/>
                </a:solidFill>
              </a:rPr>
              <a:t>SharePoint list used as an operational tracking layer</a:t>
            </a:r>
            <a:endParaRPr lang="en-US" sz="1020" dirty="0"/>
          </a:p>
        </p:txBody>
      </p:sp>
      <p:pic>
        <p:nvPicPr>
          <p:cNvPr id="5" name="Image 0" descr="/mnt/data/extracted_imgs/slide7_Picture_3.png">    </p:cNvPr>
          <p:cNvPicPr>
            <a:picLocks noChangeAspect="1"/>
          </p:cNvPicPr>
          <p:nvPr/>
        </p:nvPicPr>
        <p:blipFill>
          <a:blip r:embed="rId1"/>
          <a:stretch>
            <a:fillRect/>
          </a:stretch>
        </p:blipFill>
        <p:spPr>
          <a:xfrm>
            <a:off x="1163251" y="1005840"/>
            <a:ext cx="9880738" cy="5029200"/>
          </a:xfrm>
          <a:prstGeom prst="rect">
            <a:avLst/>
          </a:prstGeom>
        </p:spPr>
      </p:pic>
      <p:sp>
        <p:nvSpPr>
          <p:cNvPr id="6" name="Text 3"/>
          <p:cNvSpPr/>
          <p:nvPr/>
        </p:nvSpPr>
        <p:spPr>
          <a:xfrm>
            <a:off x="731520" y="6080760"/>
            <a:ext cx="10972800" cy="274320"/>
          </a:xfrm>
          <a:prstGeom prst="rect">
            <a:avLst/>
          </a:prstGeom>
          <a:noFill/>
          <a:ln/>
        </p:spPr>
        <p:txBody>
          <a:bodyPr wrap="square" lIns="0" tIns="0" rIns="0" bIns="0" rtlCol="0" anchor="ctr"/>
          <a:lstStyle/>
          <a:p>
            <a:pPr algn="ctr" indent="0" marL="0">
              <a:buNone/>
            </a:pPr>
            <a:r>
              <a:rPr lang="en-US" sz="1300" b="1" dirty="0">
                <a:solidFill>
                  <a:srgbClr val="0B1F3A"/>
                </a:solidFill>
              </a:rPr>
              <a:t>Central view of application status, document status and reviewer decisions</a:t>
            </a:r>
            <a:endParaRPr lang="en-US" sz="1300" dirty="0"/>
          </a:p>
        </p:txBody>
      </p:sp>
      <p:sp>
        <p:nvSpPr>
          <p:cNvPr id="7" name="Text 4"/>
          <p:cNvSpPr/>
          <p:nvPr/>
        </p:nvSpPr>
        <p:spPr>
          <a:xfrm>
            <a:off x="502920" y="6565392"/>
            <a:ext cx="6858000" cy="182880"/>
          </a:xfrm>
          <a:prstGeom prst="rect">
            <a:avLst/>
          </a:prstGeom>
          <a:noFill/>
          <a:ln/>
        </p:spPr>
        <p:txBody>
          <a:bodyPr wrap="square" lIns="0" tIns="0" rIns="0" bIns="0" rtlCol="0" anchor="ctr"/>
          <a:lstStyle/>
          <a:p>
            <a:pPr indent="0" marL="0">
              <a:buNone/>
            </a:pPr>
            <a:r>
              <a:rPr lang="en-US" sz="750" dirty="0">
                <a:solidFill>
                  <a:srgbClr val="6B7280"/>
                </a:solidFill>
              </a:rPr>
              <a:t>Admissions Process Automation | Microsoft Power Platform</a:t>
            </a:r>
            <a:endParaRPr lang="en-US" sz="750" dirty="0"/>
          </a:p>
        </p:txBody>
      </p:sp>
      <p:sp>
        <p:nvSpPr>
          <p:cNvPr id="8" name="Text 5"/>
          <p:cNvSpPr/>
          <p:nvPr/>
        </p:nvSpPr>
        <p:spPr>
          <a:xfrm>
            <a:off x="11384280" y="6565392"/>
            <a:ext cx="365760" cy="182880"/>
          </a:xfrm>
          <a:prstGeom prst="rect">
            <a:avLst/>
          </a:prstGeom>
          <a:noFill/>
          <a:ln/>
        </p:spPr>
        <p:txBody>
          <a:bodyPr wrap="square" lIns="0" tIns="0" rIns="0" bIns="0" rtlCol="0" anchor="ctr"/>
          <a:lstStyle/>
          <a:p>
            <a:pPr algn="r" indent="0" marL="0">
              <a:buNone/>
            </a:pPr>
            <a:r>
              <a:rPr lang="en-US" sz="750" dirty="0">
                <a:solidFill>
                  <a:srgbClr val="6B7280"/>
                </a:solidFill>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347472"/>
          </a:xfrm>
          <a:prstGeom prst="rect">
            <a:avLst/>
          </a:prstGeom>
          <a:noFill/>
          <a:ln/>
        </p:spPr>
        <p:txBody>
          <a:bodyPr wrap="square" lIns="0" tIns="0" rIns="0" bIns="0" rtlCol="0" anchor="ctr"/>
          <a:lstStyle/>
          <a:p>
            <a:pPr indent="0" marL="0">
              <a:buNone/>
            </a:pPr>
            <a:r>
              <a:rPr lang="en-US" sz="2500" b="1" dirty="0">
                <a:solidFill>
                  <a:srgbClr val="0B1F3A"/>
                </a:solidFill>
                <a:latin typeface="Aptos Display" pitchFamily="34" charset="0"/>
                <a:ea typeface="Aptos Display" pitchFamily="34" charset="-122"/>
                <a:cs typeface="Aptos Display" pitchFamily="34" charset="-120"/>
              </a:rPr>
              <a:t>SLA Monitoring &amp; Governance</a:t>
            </a:r>
            <a:endParaRPr lang="en-US" sz="2500" dirty="0"/>
          </a:p>
        </p:txBody>
      </p:sp>
      <p:sp>
        <p:nvSpPr>
          <p:cNvPr id="3" name="Shape 1"/>
          <p:cNvSpPr/>
          <p:nvPr/>
        </p:nvSpPr>
        <p:spPr>
          <a:xfrm>
            <a:off x="502920" y="713232"/>
            <a:ext cx="914400" cy="0"/>
          </a:xfrm>
          <a:prstGeom prst="line">
            <a:avLst/>
          </a:prstGeom>
          <a:noFill/>
          <a:ln w="27940">
            <a:solidFill>
              <a:srgbClr val="006E9C"/>
            </a:solidFill>
            <a:prstDash val="solid"/>
          </a:ln>
        </p:spPr>
      </p:sp>
      <p:sp>
        <p:nvSpPr>
          <p:cNvPr id="4" name="Text 2"/>
          <p:cNvSpPr/>
          <p:nvPr/>
        </p:nvSpPr>
        <p:spPr>
          <a:xfrm>
            <a:off x="1600200" y="786384"/>
            <a:ext cx="9601200" cy="182880"/>
          </a:xfrm>
          <a:prstGeom prst="rect">
            <a:avLst/>
          </a:prstGeom>
          <a:noFill/>
          <a:ln/>
        </p:spPr>
        <p:txBody>
          <a:bodyPr wrap="square" lIns="0" tIns="0" rIns="0" bIns="0" rtlCol="0" anchor="ctr"/>
          <a:lstStyle/>
          <a:p>
            <a:pPr indent="0" marL="0">
              <a:buNone/>
            </a:pPr>
            <a:r>
              <a:rPr lang="en-US" sz="1020" dirty="0">
                <a:solidFill>
                  <a:srgbClr val="4B5563"/>
                </a:solidFill>
              </a:rPr>
              <a:t>Scheduled operational monitoring for overdue applications</a:t>
            </a:r>
            <a:endParaRPr lang="en-US" sz="1020" dirty="0"/>
          </a:p>
        </p:txBody>
      </p:sp>
      <p:pic>
        <p:nvPicPr>
          <p:cNvPr id="5" name="Image 0" descr="/mnt/data/extracted_imgs/slide8_sla_crop.png">    </p:cNvPr>
          <p:cNvPicPr>
            <a:picLocks noChangeAspect="1"/>
          </p:cNvPicPr>
          <p:nvPr/>
        </p:nvPicPr>
        <p:blipFill>
          <a:blip r:embed="rId1"/>
          <a:stretch>
            <a:fillRect/>
          </a:stretch>
        </p:blipFill>
        <p:spPr>
          <a:xfrm>
            <a:off x="1048056" y="987552"/>
            <a:ext cx="4487568" cy="5440680"/>
          </a:xfrm>
          <a:prstGeom prst="rect">
            <a:avLst/>
          </a:prstGeom>
        </p:spPr>
      </p:pic>
      <p:sp>
        <p:nvSpPr>
          <p:cNvPr id="6" name="Shape 3"/>
          <p:cNvSpPr/>
          <p:nvPr/>
        </p:nvSpPr>
        <p:spPr>
          <a:xfrm>
            <a:off x="6263640" y="1234440"/>
            <a:ext cx="5257800" cy="1280160"/>
          </a:xfrm>
          <a:prstGeom prst="roundRect">
            <a:avLst>
              <a:gd name="adj" fmla="val 5714"/>
            </a:avLst>
          </a:prstGeom>
          <a:solidFill>
            <a:srgbClr val="EEF6FF"/>
          </a:solidFill>
          <a:ln w="12700">
            <a:solidFill>
              <a:srgbClr val="D7DEE8"/>
            </a:solidFill>
            <a:prstDash val="solid"/>
          </a:ln>
        </p:spPr>
      </p:sp>
      <p:sp>
        <p:nvSpPr>
          <p:cNvPr id="7" name="Text 4"/>
          <p:cNvSpPr/>
          <p:nvPr/>
        </p:nvSpPr>
        <p:spPr>
          <a:xfrm>
            <a:off x="6428232" y="1380744"/>
            <a:ext cx="4928616" cy="256032"/>
          </a:xfrm>
          <a:prstGeom prst="rect">
            <a:avLst/>
          </a:prstGeom>
          <a:noFill/>
          <a:ln/>
        </p:spPr>
        <p:txBody>
          <a:bodyPr wrap="square" lIns="0" tIns="0" rIns="0" bIns="0" rtlCol="0" anchor="ctr"/>
          <a:lstStyle/>
          <a:p>
            <a:pPr indent="0" marL="0">
              <a:buNone/>
            </a:pPr>
            <a:r>
              <a:rPr lang="en-US" sz="1400" b="1" dirty="0">
                <a:solidFill>
                  <a:srgbClr val="0B1F3A"/>
                </a:solidFill>
              </a:rPr>
              <a:t>Why a separate SLA flow?</a:t>
            </a:r>
            <a:endParaRPr lang="en-US" sz="1400" dirty="0"/>
          </a:p>
        </p:txBody>
      </p:sp>
      <p:sp>
        <p:nvSpPr>
          <p:cNvPr id="8" name="Text 5"/>
          <p:cNvSpPr/>
          <p:nvPr/>
        </p:nvSpPr>
        <p:spPr>
          <a:xfrm>
            <a:off x="6428232" y="1709928"/>
            <a:ext cx="4928616" cy="713232"/>
          </a:xfrm>
          <a:prstGeom prst="rect">
            <a:avLst/>
          </a:prstGeom>
          <a:noFill/>
          <a:ln/>
        </p:spPr>
        <p:txBody>
          <a:bodyPr wrap="square" lIns="0" tIns="0" rIns="0" bIns="0" rtlCol="0" anchor="ctr">
            <a:normAutofit/>
          </a:bodyPr>
          <a:lstStyle/>
          <a:p>
            <a:pPr indent="0" marL="0">
              <a:buNone/>
            </a:pPr>
            <a:r>
              <a:rPr lang="en-US" sz="1150" dirty="0">
                <a:solidFill>
                  <a:srgbClr val="4B5563"/>
                </a:solidFill>
              </a:rPr>
              <a:t>The main flow processes applications. The SLA flow monitors operational performance. Separating responsibilities makes the solution easier to manage and maintain.</a:t>
            </a:r>
            <a:endParaRPr lang="en-US" sz="1150" dirty="0"/>
          </a:p>
        </p:txBody>
      </p:sp>
      <p:sp>
        <p:nvSpPr>
          <p:cNvPr id="9" name="Shape 6"/>
          <p:cNvSpPr/>
          <p:nvPr/>
        </p:nvSpPr>
        <p:spPr>
          <a:xfrm>
            <a:off x="6263640" y="2788920"/>
            <a:ext cx="5257800" cy="1143000"/>
          </a:xfrm>
          <a:prstGeom prst="roundRect">
            <a:avLst>
              <a:gd name="adj" fmla="val 6400"/>
            </a:avLst>
          </a:prstGeom>
          <a:solidFill>
            <a:srgbClr val="F8FAFC"/>
          </a:solidFill>
          <a:ln w="12700">
            <a:solidFill>
              <a:srgbClr val="D7DEE8"/>
            </a:solidFill>
            <a:prstDash val="solid"/>
          </a:ln>
        </p:spPr>
      </p:sp>
      <p:sp>
        <p:nvSpPr>
          <p:cNvPr id="10" name="Text 7"/>
          <p:cNvSpPr/>
          <p:nvPr/>
        </p:nvSpPr>
        <p:spPr>
          <a:xfrm>
            <a:off x="6428232" y="2935224"/>
            <a:ext cx="4928616" cy="256032"/>
          </a:xfrm>
          <a:prstGeom prst="rect">
            <a:avLst/>
          </a:prstGeom>
          <a:noFill/>
          <a:ln/>
        </p:spPr>
        <p:txBody>
          <a:bodyPr wrap="square" lIns="0" tIns="0" rIns="0" bIns="0" rtlCol="0" anchor="ctr"/>
          <a:lstStyle/>
          <a:p>
            <a:pPr indent="0" marL="0">
              <a:buNone/>
            </a:pPr>
            <a:r>
              <a:rPr lang="en-US" sz="1400" b="1" dirty="0">
                <a:solidFill>
                  <a:srgbClr val="0B1F3A"/>
                </a:solidFill>
              </a:rPr>
              <a:t>How it works</a:t>
            </a:r>
            <a:endParaRPr lang="en-US" sz="1400" dirty="0"/>
          </a:p>
        </p:txBody>
      </p:sp>
      <p:sp>
        <p:nvSpPr>
          <p:cNvPr id="11" name="Text 8"/>
          <p:cNvSpPr/>
          <p:nvPr/>
        </p:nvSpPr>
        <p:spPr>
          <a:xfrm>
            <a:off x="6428232" y="3264408"/>
            <a:ext cx="4928616" cy="576072"/>
          </a:xfrm>
          <a:prstGeom prst="rect">
            <a:avLst/>
          </a:prstGeom>
          <a:noFill/>
          <a:ln/>
        </p:spPr>
        <p:txBody>
          <a:bodyPr wrap="square" lIns="0" tIns="0" rIns="0" bIns="0" rtlCol="0" anchor="ctr">
            <a:normAutofit/>
          </a:bodyPr>
          <a:lstStyle/>
          <a:p>
            <a:pPr indent="0" marL="0">
              <a:buNone/>
            </a:pPr>
            <a:r>
              <a:rPr lang="en-US" sz="1150" dirty="0">
                <a:solidFill>
                  <a:srgbClr val="4B5563"/>
                </a:solidFill>
              </a:rPr>
              <a:t>Runs on a schedule, checks SharePoint for overdue cases and sends escalation alerts when action is required.</a:t>
            </a:r>
            <a:endParaRPr lang="en-US" sz="1150" dirty="0"/>
          </a:p>
        </p:txBody>
      </p:sp>
      <p:sp>
        <p:nvSpPr>
          <p:cNvPr id="12" name="Shape 9"/>
          <p:cNvSpPr/>
          <p:nvPr/>
        </p:nvSpPr>
        <p:spPr>
          <a:xfrm>
            <a:off x="6263640" y="4206240"/>
            <a:ext cx="5257800" cy="822960"/>
          </a:xfrm>
          <a:prstGeom prst="roundRect">
            <a:avLst>
              <a:gd name="adj" fmla="val 8889"/>
            </a:avLst>
          </a:prstGeom>
          <a:solidFill>
            <a:srgbClr val="FFF7ED"/>
          </a:solidFill>
          <a:ln w="12700">
            <a:solidFill>
              <a:srgbClr val="D7DEE8"/>
            </a:solidFill>
            <a:prstDash val="solid"/>
          </a:ln>
        </p:spPr>
      </p:sp>
      <p:sp>
        <p:nvSpPr>
          <p:cNvPr id="13" name="Text 10"/>
          <p:cNvSpPr/>
          <p:nvPr/>
        </p:nvSpPr>
        <p:spPr>
          <a:xfrm>
            <a:off x="6428232" y="4352544"/>
            <a:ext cx="4928616" cy="256032"/>
          </a:xfrm>
          <a:prstGeom prst="rect">
            <a:avLst/>
          </a:prstGeom>
          <a:noFill/>
          <a:ln/>
        </p:spPr>
        <p:txBody>
          <a:bodyPr wrap="square" lIns="0" tIns="0" rIns="0" bIns="0" rtlCol="0" anchor="ctr"/>
          <a:lstStyle/>
          <a:p>
            <a:pPr indent="0" marL="0">
              <a:buNone/>
            </a:pPr>
            <a:r>
              <a:rPr lang="en-US" sz="1400" b="1" dirty="0">
                <a:solidFill>
                  <a:srgbClr val="0B1F3A"/>
                </a:solidFill>
              </a:rPr>
              <a:t>Governance value</a:t>
            </a:r>
            <a:endParaRPr lang="en-US" sz="1400" dirty="0"/>
          </a:p>
        </p:txBody>
      </p:sp>
      <p:sp>
        <p:nvSpPr>
          <p:cNvPr id="14" name="Text 11"/>
          <p:cNvSpPr/>
          <p:nvPr/>
        </p:nvSpPr>
        <p:spPr>
          <a:xfrm>
            <a:off x="6428232" y="4681728"/>
            <a:ext cx="4928616" cy="256032"/>
          </a:xfrm>
          <a:prstGeom prst="rect">
            <a:avLst/>
          </a:prstGeom>
          <a:noFill/>
          <a:ln/>
        </p:spPr>
        <p:txBody>
          <a:bodyPr wrap="square" lIns="0" tIns="0" rIns="0" bIns="0" rtlCol="0" anchor="ctr">
            <a:normAutofit/>
          </a:bodyPr>
          <a:lstStyle/>
          <a:p>
            <a:pPr indent="0" marL="0">
              <a:buNone/>
            </a:pPr>
            <a:r>
              <a:rPr lang="en-US" sz="1150" dirty="0">
                <a:solidFill>
                  <a:srgbClr val="4B5563"/>
                </a:solidFill>
              </a:rPr>
              <a:t>Reduces the risk of applications being missed or delayed.</a:t>
            </a:r>
            <a:endParaRPr lang="en-US" sz="1150" dirty="0"/>
          </a:p>
        </p:txBody>
      </p:sp>
      <p:sp>
        <p:nvSpPr>
          <p:cNvPr id="15" name="Text 12"/>
          <p:cNvSpPr/>
          <p:nvPr/>
        </p:nvSpPr>
        <p:spPr>
          <a:xfrm>
            <a:off x="502920" y="6565392"/>
            <a:ext cx="6858000" cy="182880"/>
          </a:xfrm>
          <a:prstGeom prst="rect">
            <a:avLst/>
          </a:prstGeom>
          <a:noFill/>
          <a:ln/>
        </p:spPr>
        <p:txBody>
          <a:bodyPr wrap="square" lIns="0" tIns="0" rIns="0" bIns="0" rtlCol="0" anchor="ctr"/>
          <a:lstStyle/>
          <a:p>
            <a:pPr indent="0" marL="0">
              <a:buNone/>
            </a:pPr>
            <a:r>
              <a:rPr lang="en-US" sz="750" dirty="0">
                <a:solidFill>
                  <a:srgbClr val="6B7280"/>
                </a:solidFill>
              </a:rPr>
              <a:t>Admissions Process Automation | Microsoft Power Platform</a:t>
            </a:r>
            <a:endParaRPr lang="en-US" sz="750" dirty="0"/>
          </a:p>
        </p:txBody>
      </p:sp>
      <p:sp>
        <p:nvSpPr>
          <p:cNvPr id="16" name="Text 13"/>
          <p:cNvSpPr/>
          <p:nvPr/>
        </p:nvSpPr>
        <p:spPr>
          <a:xfrm>
            <a:off x="11384280" y="6565392"/>
            <a:ext cx="365760" cy="182880"/>
          </a:xfrm>
          <a:prstGeom prst="rect">
            <a:avLst/>
          </a:prstGeom>
          <a:noFill/>
          <a:ln/>
        </p:spPr>
        <p:txBody>
          <a:bodyPr wrap="square" lIns="0" tIns="0" rIns="0" bIns="0" rtlCol="0" anchor="ctr"/>
          <a:lstStyle/>
          <a:p>
            <a:pPr algn="r" indent="0" marL="0">
              <a:buNone/>
            </a:pPr>
            <a:r>
              <a:rPr lang="en-US" sz="750" dirty="0">
                <a:solidFill>
                  <a:srgbClr val="6B7280"/>
                </a:solidFill>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347472"/>
          </a:xfrm>
          <a:prstGeom prst="rect">
            <a:avLst/>
          </a:prstGeom>
          <a:noFill/>
          <a:ln/>
        </p:spPr>
        <p:txBody>
          <a:bodyPr wrap="square" lIns="0" tIns="0" rIns="0" bIns="0" rtlCol="0" anchor="ctr"/>
          <a:lstStyle/>
          <a:p>
            <a:pPr indent="0" marL="0">
              <a:buNone/>
            </a:pPr>
            <a:r>
              <a:rPr lang="en-US" sz="2500" b="1" dirty="0">
                <a:solidFill>
                  <a:srgbClr val="0B1F3A"/>
                </a:solidFill>
                <a:latin typeface="Aptos Display" pitchFamily="34" charset="0"/>
                <a:ea typeface="Aptos Display" pitchFamily="34" charset="-122"/>
                <a:cs typeface="Aptos Display" pitchFamily="34" charset="-120"/>
              </a:rPr>
              <a:t>Benefits &amp; Business Impact</a:t>
            </a:r>
            <a:endParaRPr lang="en-US" sz="2500" dirty="0"/>
          </a:p>
        </p:txBody>
      </p:sp>
      <p:sp>
        <p:nvSpPr>
          <p:cNvPr id="3" name="Shape 1"/>
          <p:cNvSpPr/>
          <p:nvPr/>
        </p:nvSpPr>
        <p:spPr>
          <a:xfrm>
            <a:off x="502920" y="713232"/>
            <a:ext cx="914400" cy="0"/>
          </a:xfrm>
          <a:prstGeom prst="line">
            <a:avLst/>
          </a:prstGeom>
          <a:noFill/>
          <a:ln w="27940">
            <a:solidFill>
              <a:srgbClr val="006E9C"/>
            </a:solidFill>
            <a:prstDash val="solid"/>
          </a:ln>
        </p:spPr>
      </p:sp>
      <p:sp>
        <p:nvSpPr>
          <p:cNvPr id="4" name="Text 2"/>
          <p:cNvSpPr/>
          <p:nvPr/>
        </p:nvSpPr>
        <p:spPr>
          <a:xfrm>
            <a:off x="1600200" y="786384"/>
            <a:ext cx="9601200" cy="182880"/>
          </a:xfrm>
          <a:prstGeom prst="rect">
            <a:avLst/>
          </a:prstGeom>
          <a:noFill/>
          <a:ln/>
        </p:spPr>
        <p:txBody>
          <a:bodyPr wrap="square" lIns="0" tIns="0" rIns="0" bIns="0" rtlCol="0" anchor="ctr"/>
          <a:lstStyle/>
          <a:p>
            <a:pPr indent="0" marL="0">
              <a:buNone/>
            </a:pPr>
            <a:r>
              <a:rPr lang="en-US" sz="1020" dirty="0">
                <a:solidFill>
                  <a:srgbClr val="4B5563"/>
                </a:solidFill>
              </a:rPr>
              <a:t>What the future-state process improves</a:t>
            </a:r>
            <a:endParaRPr lang="en-US" sz="1020" dirty="0"/>
          </a:p>
        </p:txBody>
      </p:sp>
      <p:sp>
        <p:nvSpPr>
          <p:cNvPr id="5" name="Shape 3"/>
          <p:cNvSpPr/>
          <p:nvPr/>
        </p:nvSpPr>
        <p:spPr>
          <a:xfrm>
            <a:off x="594360" y="1417320"/>
            <a:ext cx="3429000" cy="1325880"/>
          </a:xfrm>
          <a:prstGeom prst="roundRect">
            <a:avLst>
              <a:gd name="adj" fmla="val 5517"/>
            </a:avLst>
          </a:prstGeom>
          <a:solidFill>
            <a:srgbClr val="F8FAFC"/>
          </a:solidFill>
          <a:ln w="12700">
            <a:solidFill>
              <a:srgbClr val="D7DEE8"/>
            </a:solidFill>
            <a:prstDash val="solid"/>
          </a:ln>
        </p:spPr>
      </p:sp>
      <p:sp>
        <p:nvSpPr>
          <p:cNvPr id="6" name="Text 4"/>
          <p:cNvSpPr/>
          <p:nvPr/>
        </p:nvSpPr>
        <p:spPr>
          <a:xfrm>
            <a:off x="758952" y="1563624"/>
            <a:ext cx="3099816" cy="256032"/>
          </a:xfrm>
          <a:prstGeom prst="rect">
            <a:avLst/>
          </a:prstGeom>
          <a:noFill/>
          <a:ln/>
        </p:spPr>
        <p:txBody>
          <a:bodyPr wrap="square" lIns="0" tIns="0" rIns="0" bIns="0" rtlCol="0" anchor="ctr"/>
          <a:lstStyle/>
          <a:p>
            <a:pPr indent="0" marL="0">
              <a:buNone/>
            </a:pPr>
            <a:r>
              <a:rPr lang="en-US" sz="1400" b="1" dirty="0">
                <a:solidFill>
                  <a:srgbClr val="0B1F3A"/>
                </a:solidFill>
              </a:rPr>
              <a:t>Reduced admin effort</a:t>
            </a:r>
            <a:endParaRPr lang="en-US" sz="1400" dirty="0"/>
          </a:p>
        </p:txBody>
      </p:sp>
      <p:sp>
        <p:nvSpPr>
          <p:cNvPr id="7" name="Text 5"/>
          <p:cNvSpPr/>
          <p:nvPr/>
        </p:nvSpPr>
        <p:spPr>
          <a:xfrm>
            <a:off x="758952" y="1892808"/>
            <a:ext cx="3099816" cy="758952"/>
          </a:xfrm>
          <a:prstGeom prst="rect">
            <a:avLst/>
          </a:prstGeom>
          <a:noFill/>
          <a:ln/>
        </p:spPr>
        <p:txBody>
          <a:bodyPr wrap="square" lIns="0" tIns="0" rIns="0" bIns="0" rtlCol="0" anchor="ctr">
            <a:normAutofit/>
          </a:bodyPr>
          <a:lstStyle/>
          <a:p>
            <a:pPr indent="0" marL="0">
              <a:buNone/>
            </a:pPr>
            <a:r>
              <a:rPr lang="en-US" sz="1150" dirty="0">
                <a:solidFill>
                  <a:srgbClr val="4B5563"/>
                </a:solidFill>
              </a:rPr>
              <a:t>Less manual inbox handling and manual email drafting</a:t>
            </a:r>
            <a:endParaRPr lang="en-US" sz="1150" dirty="0"/>
          </a:p>
        </p:txBody>
      </p:sp>
      <p:sp>
        <p:nvSpPr>
          <p:cNvPr id="8" name="Shape 6"/>
          <p:cNvSpPr/>
          <p:nvPr/>
        </p:nvSpPr>
        <p:spPr>
          <a:xfrm>
            <a:off x="4434840" y="1417320"/>
            <a:ext cx="3429000" cy="1325880"/>
          </a:xfrm>
          <a:prstGeom prst="roundRect">
            <a:avLst>
              <a:gd name="adj" fmla="val 5517"/>
            </a:avLst>
          </a:prstGeom>
          <a:solidFill>
            <a:srgbClr val="EEF6FF"/>
          </a:solidFill>
          <a:ln w="12700">
            <a:solidFill>
              <a:srgbClr val="D7DEE8"/>
            </a:solidFill>
            <a:prstDash val="solid"/>
          </a:ln>
        </p:spPr>
      </p:sp>
      <p:sp>
        <p:nvSpPr>
          <p:cNvPr id="9" name="Text 7"/>
          <p:cNvSpPr/>
          <p:nvPr/>
        </p:nvSpPr>
        <p:spPr>
          <a:xfrm>
            <a:off x="4599432" y="1563624"/>
            <a:ext cx="3099816" cy="256032"/>
          </a:xfrm>
          <a:prstGeom prst="rect">
            <a:avLst/>
          </a:prstGeom>
          <a:noFill/>
          <a:ln/>
        </p:spPr>
        <p:txBody>
          <a:bodyPr wrap="square" lIns="0" tIns="0" rIns="0" bIns="0" rtlCol="0" anchor="ctr"/>
          <a:lstStyle/>
          <a:p>
            <a:pPr indent="0" marL="0">
              <a:buNone/>
            </a:pPr>
            <a:r>
              <a:rPr lang="en-US" sz="1400" b="1" dirty="0">
                <a:solidFill>
                  <a:srgbClr val="0B1F3A"/>
                </a:solidFill>
              </a:rPr>
              <a:t>Faster turnaround</a:t>
            </a:r>
            <a:endParaRPr lang="en-US" sz="1400" dirty="0"/>
          </a:p>
        </p:txBody>
      </p:sp>
      <p:sp>
        <p:nvSpPr>
          <p:cNvPr id="10" name="Text 8"/>
          <p:cNvSpPr/>
          <p:nvPr/>
        </p:nvSpPr>
        <p:spPr>
          <a:xfrm>
            <a:off x="4599432" y="1892808"/>
            <a:ext cx="3099816" cy="758952"/>
          </a:xfrm>
          <a:prstGeom prst="rect">
            <a:avLst/>
          </a:prstGeom>
          <a:noFill/>
          <a:ln/>
        </p:spPr>
        <p:txBody>
          <a:bodyPr wrap="square" lIns="0" tIns="0" rIns="0" bIns="0" rtlCol="0" anchor="ctr">
            <a:normAutofit/>
          </a:bodyPr>
          <a:lstStyle/>
          <a:p>
            <a:pPr indent="0" marL="0">
              <a:buNone/>
            </a:pPr>
            <a:r>
              <a:rPr lang="en-US" sz="1150" dirty="0">
                <a:solidFill>
                  <a:srgbClr val="4B5563"/>
                </a:solidFill>
              </a:rPr>
              <a:t>Applications move automatically to the next stage</a:t>
            </a:r>
            <a:endParaRPr lang="en-US" sz="1150" dirty="0"/>
          </a:p>
        </p:txBody>
      </p:sp>
      <p:sp>
        <p:nvSpPr>
          <p:cNvPr id="11" name="Shape 9"/>
          <p:cNvSpPr/>
          <p:nvPr/>
        </p:nvSpPr>
        <p:spPr>
          <a:xfrm>
            <a:off x="8275320" y="1417320"/>
            <a:ext cx="3429000" cy="1325880"/>
          </a:xfrm>
          <a:prstGeom prst="roundRect">
            <a:avLst>
              <a:gd name="adj" fmla="val 5517"/>
            </a:avLst>
          </a:prstGeom>
          <a:solidFill>
            <a:srgbClr val="FFFFFF"/>
          </a:solidFill>
          <a:ln w="12700">
            <a:solidFill>
              <a:srgbClr val="D7DEE8"/>
            </a:solidFill>
            <a:prstDash val="solid"/>
          </a:ln>
        </p:spPr>
      </p:sp>
      <p:sp>
        <p:nvSpPr>
          <p:cNvPr id="12" name="Text 10"/>
          <p:cNvSpPr/>
          <p:nvPr/>
        </p:nvSpPr>
        <p:spPr>
          <a:xfrm>
            <a:off x="8439912" y="1563624"/>
            <a:ext cx="3099816" cy="256032"/>
          </a:xfrm>
          <a:prstGeom prst="rect">
            <a:avLst/>
          </a:prstGeom>
          <a:noFill/>
          <a:ln/>
        </p:spPr>
        <p:txBody>
          <a:bodyPr wrap="square" lIns="0" tIns="0" rIns="0" bIns="0" rtlCol="0" anchor="ctr"/>
          <a:lstStyle/>
          <a:p>
            <a:pPr indent="0" marL="0">
              <a:buNone/>
            </a:pPr>
            <a:r>
              <a:rPr lang="en-US" sz="1400" b="1" dirty="0">
                <a:solidFill>
                  <a:srgbClr val="0B1F3A"/>
                </a:solidFill>
              </a:rPr>
              <a:t>Improved applicant experience</a:t>
            </a:r>
            <a:endParaRPr lang="en-US" sz="1400" dirty="0"/>
          </a:p>
        </p:txBody>
      </p:sp>
      <p:sp>
        <p:nvSpPr>
          <p:cNvPr id="13" name="Text 11"/>
          <p:cNvSpPr/>
          <p:nvPr/>
        </p:nvSpPr>
        <p:spPr>
          <a:xfrm>
            <a:off x="8439912" y="1892808"/>
            <a:ext cx="3099816" cy="758952"/>
          </a:xfrm>
          <a:prstGeom prst="rect">
            <a:avLst/>
          </a:prstGeom>
          <a:noFill/>
          <a:ln/>
        </p:spPr>
        <p:txBody>
          <a:bodyPr wrap="square" lIns="0" tIns="0" rIns="0" bIns="0" rtlCol="0" anchor="ctr">
            <a:normAutofit/>
          </a:bodyPr>
          <a:lstStyle/>
          <a:p>
            <a:pPr indent="0" marL="0">
              <a:buNone/>
            </a:pPr>
            <a:r>
              <a:rPr lang="en-US" sz="1150" dirty="0">
                <a:solidFill>
                  <a:srgbClr val="4B5563"/>
                </a:solidFill>
              </a:rPr>
              <a:t>Consistent and timely communication</a:t>
            </a:r>
            <a:endParaRPr lang="en-US" sz="1150" dirty="0"/>
          </a:p>
        </p:txBody>
      </p:sp>
      <p:sp>
        <p:nvSpPr>
          <p:cNvPr id="14" name="Shape 12"/>
          <p:cNvSpPr/>
          <p:nvPr/>
        </p:nvSpPr>
        <p:spPr>
          <a:xfrm>
            <a:off x="594360" y="3383280"/>
            <a:ext cx="3429000" cy="1325880"/>
          </a:xfrm>
          <a:prstGeom prst="roundRect">
            <a:avLst>
              <a:gd name="adj" fmla="val 5517"/>
            </a:avLst>
          </a:prstGeom>
          <a:solidFill>
            <a:srgbClr val="F8FAFC"/>
          </a:solidFill>
          <a:ln w="12700">
            <a:solidFill>
              <a:srgbClr val="D7DEE8"/>
            </a:solidFill>
            <a:prstDash val="solid"/>
          </a:ln>
        </p:spPr>
      </p:sp>
      <p:sp>
        <p:nvSpPr>
          <p:cNvPr id="15" name="Text 13"/>
          <p:cNvSpPr/>
          <p:nvPr/>
        </p:nvSpPr>
        <p:spPr>
          <a:xfrm>
            <a:off x="758952" y="3529584"/>
            <a:ext cx="3099816" cy="256032"/>
          </a:xfrm>
          <a:prstGeom prst="rect">
            <a:avLst/>
          </a:prstGeom>
          <a:noFill/>
          <a:ln/>
        </p:spPr>
        <p:txBody>
          <a:bodyPr wrap="square" lIns="0" tIns="0" rIns="0" bIns="0" rtlCol="0" anchor="ctr"/>
          <a:lstStyle/>
          <a:p>
            <a:pPr indent="0" marL="0">
              <a:buNone/>
            </a:pPr>
            <a:r>
              <a:rPr lang="en-US" sz="1400" b="1" dirty="0">
                <a:solidFill>
                  <a:srgbClr val="0B1F3A"/>
                </a:solidFill>
              </a:rPr>
              <a:t>Better governance</a:t>
            </a:r>
            <a:endParaRPr lang="en-US" sz="1400" dirty="0"/>
          </a:p>
        </p:txBody>
      </p:sp>
      <p:sp>
        <p:nvSpPr>
          <p:cNvPr id="16" name="Text 14"/>
          <p:cNvSpPr/>
          <p:nvPr/>
        </p:nvSpPr>
        <p:spPr>
          <a:xfrm>
            <a:off x="758952" y="3858768"/>
            <a:ext cx="3099816" cy="758952"/>
          </a:xfrm>
          <a:prstGeom prst="rect">
            <a:avLst/>
          </a:prstGeom>
          <a:noFill/>
          <a:ln/>
        </p:spPr>
        <p:txBody>
          <a:bodyPr wrap="square" lIns="0" tIns="0" rIns="0" bIns="0" rtlCol="0" anchor="ctr">
            <a:normAutofit/>
          </a:bodyPr>
          <a:lstStyle/>
          <a:p>
            <a:pPr indent="0" marL="0">
              <a:buNone/>
            </a:pPr>
            <a:r>
              <a:rPr lang="en-US" sz="1150" dirty="0">
                <a:solidFill>
                  <a:srgbClr val="4B5563"/>
                </a:solidFill>
              </a:rPr>
              <a:t>Review decisions and statuses are visible in SharePoint</a:t>
            </a:r>
            <a:endParaRPr lang="en-US" sz="1150" dirty="0"/>
          </a:p>
        </p:txBody>
      </p:sp>
      <p:sp>
        <p:nvSpPr>
          <p:cNvPr id="17" name="Shape 15"/>
          <p:cNvSpPr/>
          <p:nvPr/>
        </p:nvSpPr>
        <p:spPr>
          <a:xfrm>
            <a:off x="4434840" y="3383280"/>
            <a:ext cx="3429000" cy="1325880"/>
          </a:xfrm>
          <a:prstGeom prst="roundRect">
            <a:avLst>
              <a:gd name="adj" fmla="val 5517"/>
            </a:avLst>
          </a:prstGeom>
          <a:solidFill>
            <a:srgbClr val="EEF6FF"/>
          </a:solidFill>
          <a:ln w="12700">
            <a:solidFill>
              <a:srgbClr val="D7DEE8"/>
            </a:solidFill>
            <a:prstDash val="solid"/>
          </a:ln>
        </p:spPr>
      </p:sp>
      <p:sp>
        <p:nvSpPr>
          <p:cNvPr id="18" name="Text 16"/>
          <p:cNvSpPr/>
          <p:nvPr/>
        </p:nvSpPr>
        <p:spPr>
          <a:xfrm>
            <a:off x="4599432" y="3529584"/>
            <a:ext cx="3099816" cy="256032"/>
          </a:xfrm>
          <a:prstGeom prst="rect">
            <a:avLst/>
          </a:prstGeom>
          <a:noFill/>
          <a:ln/>
        </p:spPr>
        <p:txBody>
          <a:bodyPr wrap="square" lIns="0" tIns="0" rIns="0" bIns="0" rtlCol="0" anchor="ctr"/>
          <a:lstStyle/>
          <a:p>
            <a:pPr indent="0" marL="0">
              <a:buNone/>
            </a:pPr>
            <a:r>
              <a:rPr lang="en-US" sz="1400" b="1" dirty="0">
                <a:solidFill>
                  <a:srgbClr val="0B1F3A"/>
                </a:solidFill>
              </a:rPr>
              <a:t>SLA visibility</a:t>
            </a:r>
            <a:endParaRPr lang="en-US" sz="1400" dirty="0"/>
          </a:p>
        </p:txBody>
      </p:sp>
      <p:sp>
        <p:nvSpPr>
          <p:cNvPr id="19" name="Text 17"/>
          <p:cNvSpPr/>
          <p:nvPr/>
        </p:nvSpPr>
        <p:spPr>
          <a:xfrm>
            <a:off x="4599432" y="3858768"/>
            <a:ext cx="3099816" cy="758952"/>
          </a:xfrm>
          <a:prstGeom prst="rect">
            <a:avLst/>
          </a:prstGeom>
          <a:noFill/>
          <a:ln/>
        </p:spPr>
        <p:txBody>
          <a:bodyPr wrap="square" lIns="0" tIns="0" rIns="0" bIns="0" rtlCol="0" anchor="ctr">
            <a:normAutofit/>
          </a:bodyPr>
          <a:lstStyle/>
          <a:p>
            <a:pPr indent="0" marL="0">
              <a:buNone/>
            </a:pPr>
            <a:r>
              <a:rPr lang="en-US" sz="1150" dirty="0">
                <a:solidFill>
                  <a:srgbClr val="4B5563"/>
                </a:solidFill>
              </a:rPr>
              <a:t>Overdue applications can be escalated</a:t>
            </a:r>
            <a:endParaRPr lang="en-US" sz="1150" dirty="0"/>
          </a:p>
        </p:txBody>
      </p:sp>
      <p:sp>
        <p:nvSpPr>
          <p:cNvPr id="20" name="Shape 18"/>
          <p:cNvSpPr/>
          <p:nvPr/>
        </p:nvSpPr>
        <p:spPr>
          <a:xfrm>
            <a:off x="8275320" y="3383280"/>
            <a:ext cx="3429000" cy="1325880"/>
          </a:xfrm>
          <a:prstGeom prst="roundRect">
            <a:avLst>
              <a:gd name="adj" fmla="val 5517"/>
            </a:avLst>
          </a:prstGeom>
          <a:solidFill>
            <a:srgbClr val="FFFFFF"/>
          </a:solidFill>
          <a:ln w="12700">
            <a:solidFill>
              <a:srgbClr val="D7DEE8"/>
            </a:solidFill>
            <a:prstDash val="solid"/>
          </a:ln>
        </p:spPr>
      </p:sp>
      <p:sp>
        <p:nvSpPr>
          <p:cNvPr id="21" name="Text 19"/>
          <p:cNvSpPr/>
          <p:nvPr/>
        </p:nvSpPr>
        <p:spPr>
          <a:xfrm>
            <a:off x="8439912" y="3529584"/>
            <a:ext cx="3099816" cy="256032"/>
          </a:xfrm>
          <a:prstGeom prst="rect">
            <a:avLst/>
          </a:prstGeom>
          <a:noFill/>
          <a:ln/>
        </p:spPr>
        <p:txBody>
          <a:bodyPr wrap="square" lIns="0" tIns="0" rIns="0" bIns="0" rtlCol="0" anchor="ctr"/>
          <a:lstStyle/>
          <a:p>
            <a:pPr indent="0" marL="0">
              <a:buNone/>
            </a:pPr>
            <a:r>
              <a:rPr lang="en-US" sz="1400" b="1" dirty="0">
                <a:solidFill>
                  <a:srgbClr val="0B1F3A"/>
                </a:solidFill>
              </a:rPr>
              <a:t>Scalable design</a:t>
            </a:r>
            <a:endParaRPr lang="en-US" sz="1400" dirty="0"/>
          </a:p>
        </p:txBody>
      </p:sp>
      <p:sp>
        <p:nvSpPr>
          <p:cNvPr id="22" name="Text 20"/>
          <p:cNvSpPr/>
          <p:nvPr/>
        </p:nvSpPr>
        <p:spPr>
          <a:xfrm>
            <a:off x="8439912" y="3858768"/>
            <a:ext cx="3099816" cy="758952"/>
          </a:xfrm>
          <a:prstGeom prst="rect">
            <a:avLst/>
          </a:prstGeom>
          <a:noFill/>
          <a:ln/>
        </p:spPr>
        <p:txBody>
          <a:bodyPr wrap="square" lIns="0" tIns="0" rIns="0" bIns="0" rtlCol="0" anchor="ctr">
            <a:normAutofit/>
          </a:bodyPr>
          <a:lstStyle/>
          <a:p>
            <a:pPr indent="0" marL="0">
              <a:buNone/>
            </a:pPr>
            <a:r>
              <a:rPr lang="en-US" sz="1150" dirty="0">
                <a:solidFill>
                  <a:srgbClr val="4B5563"/>
                </a:solidFill>
              </a:rPr>
              <a:t>Built using Microsoft 365-native tools</a:t>
            </a:r>
            <a:endParaRPr lang="en-US" sz="1150" dirty="0"/>
          </a:p>
        </p:txBody>
      </p:sp>
      <p:sp>
        <p:nvSpPr>
          <p:cNvPr id="23" name="Text 21"/>
          <p:cNvSpPr/>
          <p:nvPr/>
        </p:nvSpPr>
        <p:spPr>
          <a:xfrm>
            <a:off x="868680" y="5715000"/>
            <a:ext cx="10515600" cy="320040"/>
          </a:xfrm>
          <a:prstGeom prst="rect">
            <a:avLst/>
          </a:prstGeom>
          <a:noFill/>
          <a:ln/>
        </p:spPr>
        <p:txBody>
          <a:bodyPr wrap="square" lIns="0" tIns="0" rIns="0" bIns="0" rtlCol="0" anchor="ctr"/>
          <a:lstStyle/>
          <a:p>
            <a:pPr algn="ctr" indent="0" marL="0">
              <a:buNone/>
            </a:pPr>
            <a:r>
              <a:rPr lang="en-US" sz="1500" b="1" dirty="0">
                <a:solidFill>
                  <a:srgbClr val="0B1F3A"/>
                </a:solidFill>
              </a:rPr>
              <a:t>The process also provides a foundation for future reporting and analytics.</a:t>
            </a:r>
            <a:endParaRPr lang="en-US" sz="1500" dirty="0"/>
          </a:p>
        </p:txBody>
      </p:sp>
      <p:sp>
        <p:nvSpPr>
          <p:cNvPr id="24" name="Text 22"/>
          <p:cNvSpPr/>
          <p:nvPr/>
        </p:nvSpPr>
        <p:spPr>
          <a:xfrm>
            <a:off x="502920" y="6565392"/>
            <a:ext cx="6858000" cy="182880"/>
          </a:xfrm>
          <a:prstGeom prst="rect">
            <a:avLst/>
          </a:prstGeom>
          <a:noFill/>
          <a:ln/>
        </p:spPr>
        <p:txBody>
          <a:bodyPr wrap="square" lIns="0" tIns="0" rIns="0" bIns="0" rtlCol="0" anchor="ctr"/>
          <a:lstStyle/>
          <a:p>
            <a:pPr indent="0" marL="0">
              <a:buNone/>
            </a:pPr>
            <a:r>
              <a:rPr lang="en-US" sz="750" dirty="0">
                <a:solidFill>
                  <a:srgbClr val="6B7280"/>
                </a:solidFill>
              </a:rPr>
              <a:t>Admissions Process Automation | Microsoft Power Platform</a:t>
            </a:r>
            <a:endParaRPr lang="en-US" sz="750" dirty="0"/>
          </a:p>
        </p:txBody>
      </p:sp>
      <p:sp>
        <p:nvSpPr>
          <p:cNvPr id="25" name="Text 23"/>
          <p:cNvSpPr/>
          <p:nvPr/>
        </p:nvSpPr>
        <p:spPr>
          <a:xfrm>
            <a:off x="11384280" y="6565392"/>
            <a:ext cx="365760" cy="182880"/>
          </a:xfrm>
          <a:prstGeom prst="rect">
            <a:avLst/>
          </a:prstGeom>
          <a:noFill/>
          <a:ln/>
        </p:spPr>
        <p:txBody>
          <a:bodyPr wrap="square" lIns="0" tIns="0" rIns="0" bIns="0" rtlCol="0" anchor="ctr"/>
          <a:lstStyle/>
          <a:p>
            <a:pPr algn="r" indent="0" marL="0">
              <a:buNone/>
            </a:pPr>
            <a:r>
              <a:rPr lang="en-US" sz="750" dirty="0">
                <a:solidFill>
                  <a:srgbClr val="6B7280"/>
                </a:solidFill>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347472"/>
          </a:xfrm>
          <a:prstGeom prst="rect">
            <a:avLst/>
          </a:prstGeom>
          <a:noFill/>
          <a:ln/>
        </p:spPr>
        <p:txBody>
          <a:bodyPr wrap="square" lIns="0" tIns="0" rIns="0" bIns="0" rtlCol="0" anchor="ctr"/>
          <a:lstStyle/>
          <a:p>
            <a:pPr indent="0" marL="0">
              <a:buNone/>
            </a:pPr>
            <a:r>
              <a:rPr lang="en-US" sz="2500" b="1" dirty="0">
                <a:solidFill>
                  <a:srgbClr val="0B1F3A"/>
                </a:solidFill>
                <a:latin typeface="Aptos Display" pitchFamily="34" charset="0"/>
                <a:ea typeface="Aptos Display" pitchFamily="34" charset="-122"/>
                <a:cs typeface="Aptos Display" pitchFamily="34" charset="-120"/>
              </a:rPr>
              <a:t>Future Enhancements</a:t>
            </a:r>
            <a:endParaRPr lang="en-US" sz="2500" dirty="0"/>
          </a:p>
        </p:txBody>
      </p:sp>
      <p:sp>
        <p:nvSpPr>
          <p:cNvPr id="3" name="Shape 1"/>
          <p:cNvSpPr/>
          <p:nvPr/>
        </p:nvSpPr>
        <p:spPr>
          <a:xfrm>
            <a:off x="502920" y="713232"/>
            <a:ext cx="914400" cy="0"/>
          </a:xfrm>
          <a:prstGeom prst="line">
            <a:avLst/>
          </a:prstGeom>
          <a:noFill/>
          <a:ln w="27940">
            <a:solidFill>
              <a:srgbClr val="006E9C"/>
            </a:solidFill>
            <a:prstDash val="solid"/>
          </a:ln>
        </p:spPr>
      </p:sp>
      <p:sp>
        <p:nvSpPr>
          <p:cNvPr id="4" name="Text 2"/>
          <p:cNvSpPr/>
          <p:nvPr/>
        </p:nvSpPr>
        <p:spPr>
          <a:xfrm>
            <a:off x="1600200" y="786384"/>
            <a:ext cx="9601200" cy="182880"/>
          </a:xfrm>
          <a:prstGeom prst="rect">
            <a:avLst/>
          </a:prstGeom>
          <a:noFill/>
          <a:ln/>
        </p:spPr>
        <p:txBody>
          <a:bodyPr wrap="square" lIns="0" tIns="0" rIns="0" bIns="0" rtlCol="0" anchor="ctr"/>
          <a:lstStyle/>
          <a:p>
            <a:pPr indent="0" marL="0">
              <a:buNone/>
            </a:pPr>
            <a:r>
              <a:rPr lang="en-US" sz="1020" dirty="0">
                <a:solidFill>
                  <a:srgbClr val="4B5563"/>
                </a:solidFill>
              </a:rPr>
              <a:t>How the prototype could be taken further in production</a:t>
            </a:r>
            <a:endParaRPr lang="en-US" sz="1020" dirty="0"/>
          </a:p>
        </p:txBody>
      </p:sp>
      <p:sp>
        <p:nvSpPr>
          <p:cNvPr id="5" name="Shape 3"/>
          <p:cNvSpPr/>
          <p:nvPr/>
        </p:nvSpPr>
        <p:spPr>
          <a:xfrm>
            <a:off x="777240" y="1234440"/>
            <a:ext cx="10607040" cy="658368"/>
          </a:xfrm>
          <a:prstGeom prst="roundRect">
            <a:avLst>
              <a:gd name="adj" fmla="val 11111"/>
            </a:avLst>
          </a:prstGeom>
          <a:solidFill>
            <a:srgbClr val="F8FAFC"/>
          </a:solidFill>
          <a:ln w="12700">
            <a:solidFill>
              <a:srgbClr val="D7DEE8"/>
            </a:solidFill>
            <a:prstDash val="solid"/>
          </a:ln>
        </p:spPr>
      </p:sp>
      <p:sp>
        <p:nvSpPr>
          <p:cNvPr id="6" name="Text 4"/>
          <p:cNvSpPr/>
          <p:nvPr/>
        </p:nvSpPr>
        <p:spPr>
          <a:xfrm>
            <a:off x="1051560" y="1389888"/>
            <a:ext cx="2423160" cy="219456"/>
          </a:xfrm>
          <a:prstGeom prst="rect">
            <a:avLst/>
          </a:prstGeom>
          <a:noFill/>
          <a:ln/>
        </p:spPr>
        <p:txBody>
          <a:bodyPr wrap="square" lIns="0" tIns="0" rIns="0" bIns="0" rtlCol="0" anchor="ctr">
            <a:normAutofit/>
          </a:bodyPr>
          <a:lstStyle/>
          <a:p>
            <a:pPr indent="0" marL="0">
              <a:buNone/>
            </a:pPr>
            <a:r>
              <a:rPr lang="en-US" sz="1260" b="1" dirty="0">
                <a:solidFill>
                  <a:srgbClr val="0B1F3A"/>
                </a:solidFill>
              </a:rPr>
              <a:t>Teams approvals</a:t>
            </a:r>
            <a:endParaRPr lang="en-US" sz="1260" dirty="0"/>
          </a:p>
        </p:txBody>
      </p:sp>
      <p:sp>
        <p:nvSpPr>
          <p:cNvPr id="7" name="Text 5"/>
          <p:cNvSpPr/>
          <p:nvPr/>
        </p:nvSpPr>
        <p:spPr>
          <a:xfrm>
            <a:off x="3886200" y="1389888"/>
            <a:ext cx="7178040" cy="219456"/>
          </a:xfrm>
          <a:prstGeom prst="rect">
            <a:avLst/>
          </a:prstGeom>
          <a:noFill/>
          <a:ln/>
        </p:spPr>
        <p:txBody>
          <a:bodyPr wrap="square" lIns="0" tIns="0" rIns="0" bIns="0" rtlCol="0" anchor="ctr">
            <a:normAutofit/>
          </a:bodyPr>
          <a:lstStyle/>
          <a:p>
            <a:pPr indent="0" marL="0">
              <a:buNone/>
            </a:pPr>
            <a:r>
              <a:rPr lang="en-US" sz="1200" dirty="0">
                <a:solidFill>
                  <a:srgbClr val="4B5563"/>
                </a:solidFill>
              </a:rPr>
              <a:t>Route review decisions into Teams for easier reviewer action</a:t>
            </a:r>
            <a:endParaRPr lang="en-US" sz="1200" dirty="0"/>
          </a:p>
        </p:txBody>
      </p:sp>
      <p:sp>
        <p:nvSpPr>
          <p:cNvPr id="8" name="Shape 6"/>
          <p:cNvSpPr/>
          <p:nvPr/>
        </p:nvSpPr>
        <p:spPr>
          <a:xfrm>
            <a:off x="777240" y="2103120"/>
            <a:ext cx="10607040" cy="658368"/>
          </a:xfrm>
          <a:prstGeom prst="roundRect">
            <a:avLst>
              <a:gd name="adj" fmla="val 11111"/>
            </a:avLst>
          </a:prstGeom>
          <a:solidFill>
            <a:srgbClr val="FFFFFF"/>
          </a:solidFill>
          <a:ln w="12700">
            <a:solidFill>
              <a:srgbClr val="D7DEE8"/>
            </a:solidFill>
            <a:prstDash val="solid"/>
          </a:ln>
        </p:spPr>
      </p:sp>
      <p:sp>
        <p:nvSpPr>
          <p:cNvPr id="9" name="Text 7"/>
          <p:cNvSpPr/>
          <p:nvPr/>
        </p:nvSpPr>
        <p:spPr>
          <a:xfrm>
            <a:off x="1051560" y="2258568"/>
            <a:ext cx="2423160" cy="219456"/>
          </a:xfrm>
          <a:prstGeom prst="rect">
            <a:avLst/>
          </a:prstGeom>
          <a:noFill/>
          <a:ln/>
        </p:spPr>
        <p:txBody>
          <a:bodyPr wrap="square" lIns="0" tIns="0" rIns="0" bIns="0" rtlCol="0" anchor="ctr">
            <a:normAutofit/>
          </a:bodyPr>
          <a:lstStyle/>
          <a:p>
            <a:pPr indent="0" marL="0">
              <a:buNone/>
            </a:pPr>
            <a:r>
              <a:rPr lang="en-US" sz="1260" b="1" dirty="0">
                <a:solidFill>
                  <a:srgbClr val="0B1F3A"/>
                </a:solidFill>
              </a:rPr>
              <a:t>Power BI dashboard</a:t>
            </a:r>
            <a:endParaRPr lang="en-US" sz="1260" dirty="0"/>
          </a:p>
        </p:txBody>
      </p:sp>
      <p:sp>
        <p:nvSpPr>
          <p:cNvPr id="10" name="Text 8"/>
          <p:cNvSpPr/>
          <p:nvPr/>
        </p:nvSpPr>
        <p:spPr>
          <a:xfrm>
            <a:off x="3886200" y="2258568"/>
            <a:ext cx="7178040" cy="219456"/>
          </a:xfrm>
          <a:prstGeom prst="rect">
            <a:avLst/>
          </a:prstGeom>
          <a:noFill/>
          <a:ln/>
        </p:spPr>
        <p:txBody>
          <a:bodyPr wrap="square" lIns="0" tIns="0" rIns="0" bIns="0" rtlCol="0" anchor="ctr">
            <a:normAutofit/>
          </a:bodyPr>
          <a:lstStyle/>
          <a:p>
            <a:pPr indent="0" marL="0">
              <a:buNone/>
            </a:pPr>
            <a:r>
              <a:rPr lang="en-US" sz="1200" dirty="0">
                <a:solidFill>
                  <a:srgbClr val="4B5563"/>
                </a:solidFill>
              </a:rPr>
              <a:t>Report on volumes, conversion, overdue cases and bottlenecks</a:t>
            </a:r>
            <a:endParaRPr lang="en-US" sz="1200" dirty="0"/>
          </a:p>
        </p:txBody>
      </p:sp>
      <p:sp>
        <p:nvSpPr>
          <p:cNvPr id="11" name="Shape 9"/>
          <p:cNvSpPr/>
          <p:nvPr/>
        </p:nvSpPr>
        <p:spPr>
          <a:xfrm>
            <a:off x="777240" y="2971800"/>
            <a:ext cx="10607040" cy="658368"/>
          </a:xfrm>
          <a:prstGeom prst="roundRect">
            <a:avLst>
              <a:gd name="adj" fmla="val 11111"/>
            </a:avLst>
          </a:prstGeom>
          <a:solidFill>
            <a:srgbClr val="F8FAFC"/>
          </a:solidFill>
          <a:ln w="12700">
            <a:solidFill>
              <a:srgbClr val="D7DEE8"/>
            </a:solidFill>
            <a:prstDash val="solid"/>
          </a:ln>
        </p:spPr>
      </p:sp>
      <p:sp>
        <p:nvSpPr>
          <p:cNvPr id="12" name="Text 10"/>
          <p:cNvSpPr/>
          <p:nvPr/>
        </p:nvSpPr>
        <p:spPr>
          <a:xfrm>
            <a:off x="1051560" y="3127248"/>
            <a:ext cx="2423160" cy="219456"/>
          </a:xfrm>
          <a:prstGeom prst="rect">
            <a:avLst/>
          </a:prstGeom>
          <a:noFill/>
          <a:ln/>
        </p:spPr>
        <p:txBody>
          <a:bodyPr wrap="square" lIns="0" tIns="0" rIns="0" bIns="0" rtlCol="0" anchor="ctr">
            <a:normAutofit/>
          </a:bodyPr>
          <a:lstStyle/>
          <a:p>
            <a:pPr indent="0" marL="0">
              <a:buNone/>
            </a:pPr>
            <a:r>
              <a:rPr lang="en-US" sz="1260" b="1" dirty="0">
                <a:solidFill>
                  <a:srgbClr val="0B1F3A"/>
                </a:solidFill>
              </a:rPr>
              <a:t>Automated document validation</a:t>
            </a:r>
            <a:endParaRPr lang="en-US" sz="1260" dirty="0"/>
          </a:p>
        </p:txBody>
      </p:sp>
      <p:sp>
        <p:nvSpPr>
          <p:cNvPr id="13" name="Text 11"/>
          <p:cNvSpPr/>
          <p:nvPr/>
        </p:nvSpPr>
        <p:spPr>
          <a:xfrm>
            <a:off x="3886200" y="3127248"/>
            <a:ext cx="7178040" cy="219456"/>
          </a:xfrm>
          <a:prstGeom prst="rect">
            <a:avLst/>
          </a:prstGeom>
          <a:noFill/>
          <a:ln/>
        </p:spPr>
        <p:txBody>
          <a:bodyPr wrap="square" lIns="0" tIns="0" rIns="0" bIns="0" rtlCol="0" anchor="ctr">
            <a:normAutofit/>
          </a:bodyPr>
          <a:lstStyle/>
          <a:p>
            <a:pPr indent="0" marL="0">
              <a:buNone/>
            </a:pPr>
            <a:r>
              <a:rPr lang="en-US" sz="1200" dirty="0">
                <a:solidFill>
                  <a:srgbClr val="4B5563"/>
                </a:solidFill>
              </a:rPr>
              <a:t>Check document completeness and naming standards automatically</a:t>
            </a:r>
            <a:endParaRPr lang="en-US" sz="1200" dirty="0"/>
          </a:p>
        </p:txBody>
      </p:sp>
      <p:sp>
        <p:nvSpPr>
          <p:cNvPr id="14" name="Shape 12"/>
          <p:cNvSpPr/>
          <p:nvPr/>
        </p:nvSpPr>
        <p:spPr>
          <a:xfrm>
            <a:off x="777240" y="3840480"/>
            <a:ext cx="10607040" cy="658368"/>
          </a:xfrm>
          <a:prstGeom prst="roundRect">
            <a:avLst>
              <a:gd name="adj" fmla="val 11111"/>
            </a:avLst>
          </a:prstGeom>
          <a:solidFill>
            <a:srgbClr val="FFFFFF"/>
          </a:solidFill>
          <a:ln w="12700">
            <a:solidFill>
              <a:srgbClr val="D7DEE8"/>
            </a:solidFill>
            <a:prstDash val="solid"/>
          </a:ln>
        </p:spPr>
      </p:sp>
      <p:sp>
        <p:nvSpPr>
          <p:cNvPr id="15" name="Text 13"/>
          <p:cNvSpPr/>
          <p:nvPr/>
        </p:nvSpPr>
        <p:spPr>
          <a:xfrm>
            <a:off x="1051560" y="3995928"/>
            <a:ext cx="2423160" cy="219456"/>
          </a:xfrm>
          <a:prstGeom prst="rect">
            <a:avLst/>
          </a:prstGeom>
          <a:noFill/>
          <a:ln/>
        </p:spPr>
        <p:txBody>
          <a:bodyPr wrap="square" lIns="0" tIns="0" rIns="0" bIns="0" rtlCol="0" anchor="ctr">
            <a:normAutofit/>
          </a:bodyPr>
          <a:lstStyle/>
          <a:p>
            <a:pPr indent="0" marL="0">
              <a:buNone/>
            </a:pPr>
            <a:r>
              <a:rPr lang="en-US" sz="1260" b="1" dirty="0">
                <a:solidFill>
                  <a:srgbClr val="0B1F3A"/>
                </a:solidFill>
              </a:rPr>
              <a:t>Role-based access controls</a:t>
            </a:r>
            <a:endParaRPr lang="en-US" sz="1260" dirty="0"/>
          </a:p>
        </p:txBody>
      </p:sp>
      <p:sp>
        <p:nvSpPr>
          <p:cNvPr id="16" name="Text 14"/>
          <p:cNvSpPr/>
          <p:nvPr/>
        </p:nvSpPr>
        <p:spPr>
          <a:xfrm>
            <a:off x="3886200" y="3995928"/>
            <a:ext cx="7178040" cy="219456"/>
          </a:xfrm>
          <a:prstGeom prst="rect">
            <a:avLst/>
          </a:prstGeom>
          <a:noFill/>
          <a:ln/>
        </p:spPr>
        <p:txBody>
          <a:bodyPr wrap="square" lIns="0" tIns="0" rIns="0" bIns="0" rtlCol="0" anchor="ctr">
            <a:normAutofit/>
          </a:bodyPr>
          <a:lstStyle/>
          <a:p>
            <a:pPr indent="0" marL="0">
              <a:buNone/>
            </a:pPr>
            <a:r>
              <a:rPr lang="en-US" sz="1200" dirty="0">
                <a:solidFill>
                  <a:srgbClr val="4B5563"/>
                </a:solidFill>
              </a:rPr>
              <a:t>Limit document and decision access by team role</a:t>
            </a:r>
            <a:endParaRPr lang="en-US" sz="1200" dirty="0"/>
          </a:p>
        </p:txBody>
      </p:sp>
      <p:sp>
        <p:nvSpPr>
          <p:cNvPr id="17" name="Shape 15"/>
          <p:cNvSpPr/>
          <p:nvPr/>
        </p:nvSpPr>
        <p:spPr>
          <a:xfrm>
            <a:off x="777240" y="4709160"/>
            <a:ext cx="10607040" cy="658368"/>
          </a:xfrm>
          <a:prstGeom prst="roundRect">
            <a:avLst>
              <a:gd name="adj" fmla="val 11111"/>
            </a:avLst>
          </a:prstGeom>
          <a:solidFill>
            <a:srgbClr val="F8FAFC"/>
          </a:solidFill>
          <a:ln w="12700">
            <a:solidFill>
              <a:srgbClr val="D7DEE8"/>
            </a:solidFill>
            <a:prstDash val="solid"/>
          </a:ln>
        </p:spPr>
      </p:sp>
      <p:sp>
        <p:nvSpPr>
          <p:cNvPr id="18" name="Text 16"/>
          <p:cNvSpPr/>
          <p:nvPr/>
        </p:nvSpPr>
        <p:spPr>
          <a:xfrm>
            <a:off x="1051560" y="4864608"/>
            <a:ext cx="2423160" cy="219456"/>
          </a:xfrm>
          <a:prstGeom prst="rect">
            <a:avLst/>
          </a:prstGeom>
          <a:noFill/>
          <a:ln/>
        </p:spPr>
        <p:txBody>
          <a:bodyPr wrap="square" lIns="0" tIns="0" rIns="0" bIns="0" rtlCol="0" anchor="ctr">
            <a:normAutofit/>
          </a:bodyPr>
          <a:lstStyle/>
          <a:p>
            <a:pPr indent="0" marL="0">
              <a:buNone/>
            </a:pPr>
            <a:r>
              <a:rPr lang="en-US" sz="1260" b="1" dirty="0">
                <a:solidFill>
                  <a:srgbClr val="0B1F3A"/>
                </a:solidFill>
              </a:rPr>
              <a:t>Dataverse at enterprise scale</a:t>
            </a:r>
            <a:endParaRPr lang="en-US" sz="1260" dirty="0"/>
          </a:p>
        </p:txBody>
      </p:sp>
      <p:sp>
        <p:nvSpPr>
          <p:cNvPr id="19" name="Text 17"/>
          <p:cNvSpPr/>
          <p:nvPr/>
        </p:nvSpPr>
        <p:spPr>
          <a:xfrm>
            <a:off x="3886200" y="4864608"/>
            <a:ext cx="7178040" cy="219456"/>
          </a:xfrm>
          <a:prstGeom prst="rect">
            <a:avLst/>
          </a:prstGeom>
          <a:noFill/>
          <a:ln/>
        </p:spPr>
        <p:txBody>
          <a:bodyPr wrap="square" lIns="0" tIns="0" rIns="0" bIns="0" rtlCol="0" anchor="ctr">
            <a:normAutofit/>
          </a:bodyPr>
          <a:lstStyle/>
          <a:p>
            <a:pPr indent="0" marL="0">
              <a:buNone/>
            </a:pPr>
            <a:r>
              <a:rPr lang="en-US" sz="1200" dirty="0">
                <a:solidFill>
                  <a:srgbClr val="4B5563"/>
                </a:solidFill>
              </a:rPr>
              <a:t>Use Dataverse if data model complexity or scale increases</a:t>
            </a:r>
            <a:endParaRPr lang="en-US" sz="1200" dirty="0"/>
          </a:p>
        </p:txBody>
      </p:sp>
      <p:sp>
        <p:nvSpPr>
          <p:cNvPr id="20" name="Text 18"/>
          <p:cNvSpPr/>
          <p:nvPr/>
        </p:nvSpPr>
        <p:spPr>
          <a:xfrm>
            <a:off x="502920" y="6565392"/>
            <a:ext cx="6858000" cy="182880"/>
          </a:xfrm>
          <a:prstGeom prst="rect">
            <a:avLst/>
          </a:prstGeom>
          <a:noFill/>
          <a:ln/>
        </p:spPr>
        <p:txBody>
          <a:bodyPr wrap="square" lIns="0" tIns="0" rIns="0" bIns="0" rtlCol="0" anchor="ctr"/>
          <a:lstStyle/>
          <a:p>
            <a:pPr indent="0" marL="0">
              <a:buNone/>
            </a:pPr>
            <a:r>
              <a:rPr lang="en-US" sz="750" dirty="0">
                <a:solidFill>
                  <a:srgbClr val="6B7280"/>
                </a:solidFill>
              </a:rPr>
              <a:t>Admissions Process Automation | Microsoft Power Platform</a:t>
            </a:r>
            <a:endParaRPr lang="en-US" sz="750" dirty="0"/>
          </a:p>
        </p:txBody>
      </p:sp>
      <p:sp>
        <p:nvSpPr>
          <p:cNvPr id="21" name="Text 19"/>
          <p:cNvSpPr/>
          <p:nvPr/>
        </p:nvSpPr>
        <p:spPr>
          <a:xfrm>
            <a:off x="11384280" y="6565392"/>
            <a:ext cx="365760" cy="182880"/>
          </a:xfrm>
          <a:prstGeom prst="rect">
            <a:avLst/>
          </a:prstGeom>
          <a:noFill/>
          <a:ln/>
        </p:spPr>
        <p:txBody>
          <a:bodyPr wrap="square" lIns="0" tIns="0" rIns="0" bIns="0" rtlCol="0" anchor="ctr"/>
          <a:lstStyle/>
          <a:p>
            <a:pPr algn="r" indent="0" marL="0">
              <a:buNone/>
            </a:pPr>
            <a:r>
              <a:rPr lang="en-US" sz="750" dirty="0">
                <a:solidFill>
                  <a:srgbClr val="6B7280"/>
                </a:solidFill>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85800" y="2331720"/>
            <a:ext cx="10972800" cy="731520"/>
          </a:xfrm>
          <a:prstGeom prst="rect">
            <a:avLst/>
          </a:prstGeom>
          <a:noFill/>
          <a:ln/>
        </p:spPr>
        <p:txBody>
          <a:bodyPr wrap="square" lIns="0" tIns="0" rIns="0" bIns="0" rtlCol="0" anchor="ctr"/>
          <a:lstStyle/>
          <a:p>
            <a:pPr algn="ctr" indent="0" marL="0">
              <a:buNone/>
            </a:pPr>
            <a:r>
              <a:rPr lang="en-US" sz="4400" b="1" dirty="0">
                <a:solidFill>
                  <a:srgbClr val="FFFFFF"/>
                </a:solidFill>
              </a:rPr>
              <a:t>Q&amp;A</a:t>
            </a:r>
            <a:endParaRPr lang="en-US" sz="4400" dirty="0"/>
          </a:p>
        </p:txBody>
      </p:sp>
      <p:sp>
        <p:nvSpPr>
          <p:cNvPr id="3" name="Text 1"/>
          <p:cNvSpPr/>
          <p:nvPr/>
        </p:nvSpPr>
        <p:spPr>
          <a:xfrm>
            <a:off x="1280160" y="3246120"/>
            <a:ext cx="9601200" cy="320040"/>
          </a:xfrm>
          <a:prstGeom prst="rect">
            <a:avLst/>
          </a:prstGeom>
          <a:noFill/>
          <a:ln/>
        </p:spPr>
        <p:txBody>
          <a:bodyPr wrap="square" lIns="0" tIns="0" rIns="0" bIns="0" rtlCol="0" anchor="ctr"/>
          <a:lstStyle/>
          <a:p>
            <a:pPr algn="ctr" indent="0" marL="0">
              <a:buNone/>
            </a:pPr>
            <a:r>
              <a:rPr lang="en-US" sz="1600" dirty="0">
                <a:solidFill>
                  <a:srgbClr val="DDEEFF"/>
                </a:solidFill>
              </a:rPr>
              <a:t>Thank you for listening. I’m happy to answer any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Plymouth Marjon University Interview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Admissions Process Automation using Microsoft Power Platform</dc:title>
  <dc:subject>Admissions Process Automation</dc:subject>
  <dc:creator>Kingsley Anike</dc:creator>
  <cp:lastModifiedBy>Kingsley Anike</cp:lastModifiedBy>
  <cp:revision>1</cp:revision>
  <dcterms:created xsi:type="dcterms:W3CDTF">2026-06-01T19:02:45Z</dcterms:created>
  <dcterms:modified xsi:type="dcterms:W3CDTF">2026-06-01T19:02:45Z</dcterms:modified>
</cp:coreProperties>
</file>